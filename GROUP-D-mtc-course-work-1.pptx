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6" r:id="rId12"/>
    <p:sldId id="276" r:id="rId13"/>
    <p:sldId id="267" r:id="rId14"/>
    <p:sldId id="265" r:id="rId15"/>
    <p:sldId id="270" r:id="rId16"/>
    <p:sldId id="271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470" y="67"/>
      </p:cViewPr>
      <p:guideLst>
        <p:guide orient="horz" pos="219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1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2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9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9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71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9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1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49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3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97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22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1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66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73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3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1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2250" y="556260"/>
            <a:ext cx="9175750" cy="2508885"/>
          </a:xfrm>
        </p:spPr>
        <p:txBody>
          <a:bodyPr>
            <a:normAutofit fontScale="90000"/>
          </a:bodyPr>
          <a:lstStyle/>
          <a:p>
            <a:r>
              <a:rPr lang="en-US" altLang="en-GB" sz="2665" b="1" dirty="0"/>
              <a:t>COURSE UNIT: MATHS IST 1106</a:t>
            </a:r>
            <a:br>
              <a:rPr lang="en-US" altLang="en-GB" sz="2665" b="1" dirty="0"/>
            </a:br>
            <a:r>
              <a:rPr lang="en-US" altLang="en-GB" sz="2665" b="1" dirty="0"/>
              <a:t>SEMESTER:1</a:t>
            </a:r>
            <a:br>
              <a:rPr lang="en-US" altLang="en-GB" sz="2665" b="1" dirty="0"/>
            </a:br>
            <a:r>
              <a:rPr lang="en-US" altLang="en-GB" sz="2665" b="1" dirty="0"/>
              <a:t>LECTURER: BYANSI DAVID</a:t>
            </a:r>
            <a:br>
              <a:rPr lang="en-US" altLang="en-GB" sz="2665" b="1" dirty="0"/>
            </a:br>
            <a:r>
              <a:rPr lang="en-US" altLang="en-GB" sz="2665" b="1" dirty="0"/>
              <a:t>GROUP: D</a:t>
            </a:r>
            <a:br>
              <a:rPr lang="en-US" altLang="en-GB" sz="2665" b="1" dirty="0"/>
            </a:br>
            <a:br>
              <a:rPr lang="en-US" altLang="en-GB" sz="2665" dirty="0"/>
            </a:br>
            <a:endParaRPr lang="en-US" altLang="en-GB" sz="2665" dirty="0"/>
          </a:p>
        </p:txBody>
      </p:sp>
      <p:graphicFrame>
        <p:nvGraphicFramePr>
          <p:cNvPr id="5" name="Table 4"/>
          <p:cNvGraphicFramePr/>
          <p:nvPr>
            <p:extLst>
              <p:ext uri="{D42A27DB-BD31-4B8C-83A1-F6EECF244321}">
                <p14:modId xmlns:p14="http://schemas.microsoft.com/office/powerpoint/2010/main" val="3766788457"/>
              </p:ext>
            </p:extLst>
          </p:nvPr>
        </p:nvGraphicFramePr>
        <p:xfrm>
          <a:off x="1813560" y="2400012"/>
          <a:ext cx="853313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REGISTRATION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STUDENT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AINEBYONA VICTOR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26/U/04227/PSA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2600703692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ACHUDA FREDRICK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26/U/29544/PSA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2600729544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AKAMPURIRA 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26/U/03698/PS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GB" dirty="0"/>
                        <a:t>2600703698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MBABAALI EDRINE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26/U/30208/PS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2600730208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KAKANDE 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26/U/04111/PS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2600703831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ODOI VINCENT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26/U/30208/PS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2600730208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KAWUMI JEREMY 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26/U/03862/PS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2600703862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PETO MICROS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26/U/04146/PSA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5019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GB" b="1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GB" sz="2000" dirty="0">
                <a:latin typeface="Bahnschrift SemiBold" panose="020B0502040204020203" pitchFamily="34" charset="0"/>
              </a:rPr>
              <a:t>List the main Boolean Algebra Laws.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GB" sz="2000" dirty="0">
                <a:latin typeface="Bahnschrift SemiBold" panose="020B0502040204020203" pitchFamily="34" charset="0"/>
              </a:rPr>
              <a:t>Outline De Morgan’s Laws and when you apply them.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GB" sz="2000" dirty="0">
                <a:latin typeface="Bahnschrift SemiBold" panose="020B0502040204020203" pitchFamily="34" charset="0"/>
              </a:rPr>
              <a:t>Out line how distributive /absorption laws can be used to simplify expressions.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GB" sz="2000" dirty="0">
                <a:latin typeface="Bahnschrift SemiBold" panose="020B0502040204020203" pitchFamily="34" charset="0"/>
              </a:rPr>
              <a:t>Provide a short “cheat sheet” for equivalences you consider most useful.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GB" sz="2000" dirty="0">
                <a:latin typeface="Bahnschrift SemiBold" panose="020B0502040204020203" pitchFamily="34" charset="0"/>
              </a:rPr>
              <a:t>Provide guidance on using truth tables to verify equivalence.</a:t>
            </a:r>
          </a:p>
          <a:p>
            <a:endParaRPr lang="en-US" alt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 sz="2800" b="1" dirty="0">
                <a:solidFill>
                  <a:schemeClr val="accent5"/>
                </a:solidFill>
              </a:rPr>
              <a:t>NUMBER ONE: </a:t>
            </a:r>
            <a:r>
              <a:rPr lang="en-US" altLang="en-GB" sz="2800" dirty="0"/>
              <a:t>FUNDAMENTALS OF BOOLEAN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3597781"/>
            <a:ext cx="10409517" cy="2156011"/>
          </a:xfrm>
        </p:spPr>
        <p:txBody>
          <a:bodyPr numCol="2">
            <a:normAutofit fontScale="67500" lnSpcReduction="20000"/>
          </a:bodyPr>
          <a:lstStyle/>
          <a:p>
            <a:r>
              <a:rPr lang="en-US" altLang="en-GB" sz="2700" dirty="0">
                <a:latin typeface="Bahnschrift SemiBold" panose="020B0502040204020203" pitchFamily="34" charset="0"/>
              </a:rPr>
              <a:t>Identity law</a:t>
            </a: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Null law</a:t>
            </a: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Idempotent/Complement law</a:t>
            </a: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Complement law</a:t>
            </a: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Commutative law</a:t>
            </a: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Associative law</a:t>
            </a: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Distributive Law</a:t>
            </a: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Absorption law</a:t>
            </a: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De morgan’s law</a:t>
            </a: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Double negation law</a:t>
            </a:r>
          </a:p>
          <a:p>
            <a:pPr marL="0" indent="0">
              <a:buNone/>
            </a:pPr>
            <a:endParaRPr lang="en-US" altLang="en-GB" sz="2700" dirty="0">
              <a:latin typeface="Bahnschrift SemiBold" panose="020B0502040204020203" pitchFamily="34" charset="0"/>
            </a:endParaRPr>
          </a:p>
          <a:p>
            <a:endParaRPr lang="en-US" altLang="en-GB" dirty="0"/>
          </a:p>
          <a:p>
            <a:pPr marL="514350" indent="-514350" algn="l">
              <a:buFont typeface="Wingdings" panose="05000000000000000000" charset="0"/>
              <a:buAutoNum type="arabicPeriod"/>
            </a:pPr>
            <a:endParaRPr lang="en-US" alt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CAE7B-59AA-3F60-EADE-18CF1705BB98}"/>
              </a:ext>
            </a:extLst>
          </p:cNvPr>
          <p:cNvSpPr txBox="1"/>
          <p:nvPr/>
        </p:nvSpPr>
        <p:spPr>
          <a:xfrm>
            <a:off x="1219200" y="2277035"/>
            <a:ext cx="9771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Boolean Algebra is a branch of mathematics that deals with logical values, these being either true(1) or false(0).</a:t>
            </a:r>
          </a:p>
          <a:p>
            <a:endParaRPr lang="en-US" dirty="0"/>
          </a:p>
          <a:p>
            <a:r>
              <a:rPr lang="en-US" dirty="0"/>
              <a:t>Below are the laws:</a:t>
            </a:r>
            <a:endParaRPr lang="en-U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GB" dirty="0"/>
              <a:t>1.</a:t>
            </a:r>
            <a:r>
              <a:rPr lang="en-US" altLang="en-GB" b="1" dirty="0">
                <a:sym typeface="+mn-ea"/>
              </a:rPr>
              <a:t>Identity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492188"/>
            <a:ext cx="8825659" cy="3527612"/>
          </a:xfrm>
        </p:spPr>
        <p:txBody>
          <a:bodyPr>
            <a:normAutofit fontScale="80000" lnSpcReduction="20000"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 dirty="0"/>
              <a:t> 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E.g. if; A= 1</a:t>
            </a:r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Then; 1*1 =1</a:t>
            </a:r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Its also true on the addition side.</a:t>
            </a:r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If; A= 0</a:t>
            </a:r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Then; 0+0 =0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958495"/>
              </p:ext>
            </p:extLst>
          </p:nvPr>
        </p:nvGraphicFramePr>
        <p:xfrm>
          <a:off x="1604645" y="2277602"/>
          <a:ext cx="8982710" cy="1880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1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dirty="0">
                          <a:sym typeface="+mn-ea"/>
                        </a:rPr>
                        <a:t>FOR MULTIPLICATION</a:t>
                      </a:r>
                      <a:endParaRPr lang="en-US" altLang="en-GB" sz="1800" b="1" dirty="0"/>
                    </a:p>
                    <a:p>
                      <a:pPr>
                        <a:buNone/>
                      </a:pPr>
                      <a:endParaRPr lang="en-GB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A*1 = A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A+0 =A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04645" y="901950"/>
            <a:ext cx="8761413" cy="706964"/>
          </a:xfrm>
        </p:spPr>
        <p:txBody>
          <a:bodyPr/>
          <a:lstStyle/>
          <a:p>
            <a:pPr algn="ctr"/>
            <a:r>
              <a:rPr lang="en-US" altLang="en-GB" b="1" dirty="0">
                <a:sym typeface="+mn-ea"/>
              </a:rPr>
              <a:t>2.Null Law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80000" lnSpcReduction="20000"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 dirty="0"/>
              <a:t> 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E.g. if; A= 1</a:t>
            </a:r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Then; 1*0 =0</a:t>
            </a:r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Its also true on the addition side</a:t>
            </a:r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If; A = 0</a:t>
            </a:r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Then; 0+1 =1</a:t>
            </a:r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2229098"/>
              </p:ext>
            </p:extLst>
          </p:nvPr>
        </p:nvGraphicFramePr>
        <p:xfrm>
          <a:off x="1604645" y="2291640"/>
          <a:ext cx="8982710" cy="1880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1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dirty="0">
                          <a:sym typeface="+mn-ea"/>
                        </a:rPr>
                        <a:t>FOR MULTIPLICATION</a:t>
                      </a:r>
                      <a:endParaRPr lang="en-US" altLang="en-GB" sz="1800" b="1" dirty="0"/>
                    </a:p>
                    <a:p>
                      <a:pPr>
                        <a:buNone/>
                      </a:pPr>
                      <a:endParaRPr lang="en-GB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A*0 = 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A+1=A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801353"/>
            <a:ext cx="10515600" cy="1160145"/>
          </a:xfrm>
        </p:spPr>
        <p:txBody>
          <a:bodyPr/>
          <a:lstStyle/>
          <a:p>
            <a:pPr algn="ctr"/>
            <a:r>
              <a:rPr lang="en-US" altLang="en-GB" b="1" dirty="0"/>
              <a:t>3.</a:t>
            </a:r>
            <a:r>
              <a:rPr lang="en-US" altLang="en-GB" b="1"/>
              <a:t>Idempotent </a:t>
            </a:r>
            <a:r>
              <a:rPr lang="en-US" altLang="en-GB" b="1" dirty="0">
                <a:sym typeface="+mn-ea"/>
              </a:rPr>
              <a:t>L</a:t>
            </a:r>
            <a:r>
              <a:rPr lang="en-US" altLang="en-GB" b="1">
                <a:sym typeface="+mn-ea"/>
              </a:rPr>
              <a:t>aw</a:t>
            </a:r>
            <a:endParaRPr lang="en-US" altLang="en-GB" b="1" dirty="0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53353" y="2779061"/>
            <a:ext cx="10515600" cy="3397622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 dirty="0"/>
              <a:t> 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E.g. if A= 1</a:t>
            </a:r>
          </a:p>
          <a:p>
            <a:pPr marL="0" indent="268288" algn="l">
              <a:buFont typeface="Arial" panose="020B0604020202020204" pitchFamily="34" charset="0"/>
              <a:buNone/>
            </a:pPr>
            <a:r>
              <a:rPr lang="en-US" altLang="en-GB" b="1" dirty="0"/>
              <a:t>1*1 =1</a:t>
            </a:r>
          </a:p>
          <a:p>
            <a:pPr marL="0" indent="268288" algn="l">
              <a:buFont typeface="Arial" panose="020B0604020202020204" pitchFamily="34" charset="0"/>
              <a:buNone/>
            </a:pPr>
            <a:r>
              <a:rPr lang="en-US" altLang="en-GB" b="1" dirty="0"/>
              <a:t>its also true on the addition side</a:t>
            </a:r>
          </a:p>
          <a:p>
            <a:pPr marL="0" indent="268288" algn="l">
              <a:buFont typeface="Arial" panose="020B0604020202020204" pitchFamily="34" charset="0"/>
              <a:buNone/>
            </a:pPr>
            <a:r>
              <a:rPr lang="en-US" altLang="en-GB" b="1" dirty="0"/>
              <a:t>if A= 0</a:t>
            </a:r>
          </a:p>
          <a:p>
            <a:pPr marL="0" indent="268288" algn="l">
              <a:buFont typeface="Arial" panose="020B0604020202020204" pitchFamily="34" charset="0"/>
              <a:buNone/>
            </a:pPr>
            <a:r>
              <a:rPr lang="en-US" altLang="en-GB" b="1" dirty="0"/>
              <a:t>0+0= 0</a:t>
            </a:r>
          </a:p>
          <a:p>
            <a:pPr marL="0" indent="268288" algn="l">
              <a:buFont typeface="Arial" panose="020B0604020202020204" pitchFamily="34" charset="0"/>
              <a:buNone/>
            </a:pPr>
            <a:r>
              <a:rPr lang="en-US" altLang="en-GB" b="1" dirty="0"/>
              <a:t>Since, in Boolean algebra, we deal with 0’s and 1’s it must be true for 1 +1 = 1.Which will leave out 2.</a:t>
            </a:r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5879328"/>
              </p:ext>
            </p:extLst>
          </p:nvPr>
        </p:nvGraphicFramePr>
        <p:xfrm>
          <a:off x="1479550" y="2304079"/>
          <a:ext cx="9232900" cy="1821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FOR MULTIPLICATION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 A*A= A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A+A=A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581345" y="901951"/>
            <a:ext cx="8761413" cy="706964"/>
          </a:xfrm>
        </p:spPr>
        <p:txBody>
          <a:bodyPr/>
          <a:lstStyle/>
          <a:p>
            <a:pPr algn="ctr"/>
            <a:r>
              <a:rPr lang="en-US" altLang="en-GB" b="1" dirty="0"/>
              <a:t>4.Complement </a:t>
            </a:r>
            <a:r>
              <a:rPr lang="en-US" altLang="en-GB" b="1" dirty="0">
                <a:sym typeface="+mn-ea"/>
              </a:rPr>
              <a:t>law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37292" y="4383741"/>
            <a:ext cx="9665446" cy="2375647"/>
          </a:xfrm>
        </p:spPr>
        <p:txBody>
          <a:bodyPr numCol="2">
            <a:normAutofit fontScale="97500"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2400" b="1" dirty="0"/>
              <a:t>E.g. if A= 1</a:t>
            </a:r>
          </a:p>
          <a:p>
            <a:pPr marL="0" indent="268288" algn="l">
              <a:buFont typeface="Arial" panose="020B0604020202020204" pitchFamily="34" charset="0"/>
              <a:buNone/>
            </a:pPr>
            <a:r>
              <a:rPr lang="en-US" altLang="en-GB" sz="2400" b="1" dirty="0"/>
              <a:t>Then 1*0 = 0</a:t>
            </a:r>
          </a:p>
          <a:p>
            <a:pPr marL="0" indent="268288" algn="l">
              <a:buFont typeface="Arial" panose="020B0604020202020204" pitchFamily="34" charset="0"/>
              <a:buNone/>
            </a:pPr>
            <a:r>
              <a:rPr lang="en-US" altLang="en-GB" sz="2400" b="1" dirty="0"/>
              <a:t>its also true on the addition side</a:t>
            </a:r>
          </a:p>
          <a:p>
            <a:pPr marL="0" indent="268288" algn="l">
              <a:buFont typeface="Arial" panose="020B0604020202020204" pitchFamily="34" charset="0"/>
              <a:buNone/>
            </a:pPr>
            <a:r>
              <a:rPr lang="en-US" altLang="en-GB" sz="2400" b="1" dirty="0"/>
              <a:t>if A= 0</a:t>
            </a:r>
          </a:p>
          <a:p>
            <a:pPr marL="0" indent="268288" algn="l">
              <a:buFont typeface="Arial" panose="020B0604020202020204" pitchFamily="34" charset="0"/>
              <a:buNone/>
            </a:pPr>
            <a:r>
              <a:rPr lang="en-US" altLang="en-GB" sz="2400" b="1" dirty="0"/>
              <a:t>0+1 =1</a:t>
            </a:r>
          </a:p>
          <a:p>
            <a:pPr marL="0" indent="268288" algn="l">
              <a:buFont typeface="Arial" panose="020B0604020202020204" pitchFamily="34" charset="0"/>
              <a:buNone/>
            </a:pPr>
            <a:endParaRPr lang="en-US" alt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/>
              <p:nvPr>
                <p:custDataLst>
                  <p:tags r:id="rId1"/>
                </p:custDataLst>
                <p:extLst>
                  <p:ext uri="{D42A27DB-BD31-4B8C-83A1-F6EECF244321}">
                    <p14:modId xmlns:p14="http://schemas.microsoft.com/office/powerpoint/2010/main" val="2883356949"/>
                  </p:ext>
                </p:extLst>
              </p:nvPr>
            </p:nvGraphicFramePr>
            <p:xfrm>
              <a:off x="1470697" y="2312289"/>
              <a:ext cx="8982710" cy="19993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913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91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835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en-GB" sz="1800" dirty="0">
                              <a:sym typeface="+mn-ea"/>
                            </a:rPr>
                            <a:t>FOR MULTIPLICATION</a:t>
                          </a:r>
                          <a:endParaRPr lang="en-US" altLang="en-GB" sz="1800" b="1" dirty="0"/>
                        </a:p>
                        <a:p>
                          <a:pPr>
                            <a:buNone/>
                          </a:pPr>
                          <a:endParaRPr lang="en-GB" altLang="en-US" dirty="0"/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en-GB"/>
                            <a:t>FOR ADDITION</a:t>
                          </a: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835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en-GB" sz="6600" dirty="0"/>
                            <a:t>A*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altLang="en-GB" sz="6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en-GB" sz="660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altLang="en-GB" sz="6600" dirty="0"/>
                            <a:t>= 0</a:t>
                          </a: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en-GB" sz="6600" dirty="0"/>
                            <a:t>A+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altLang="en-GB" sz="6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en-GB" sz="660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altLang="en-GB" sz="6600" dirty="0"/>
                            <a:t>=1</a:t>
                          </a: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/>
              <p:nvPr>
                <p:custDataLst>
                  <p:tags r:id="rId3"/>
                </p:custDataLst>
                <p:extLst>
                  <p:ext uri="{D42A27DB-BD31-4B8C-83A1-F6EECF244321}">
                    <p14:modId xmlns:p14="http://schemas.microsoft.com/office/powerpoint/2010/main" val="2883356949"/>
                  </p:ext>
                </p:extLst>
              </p:nvPr>
            </p:nvGraphicFramePr>
            <p:xfrm>
              <a:off x="1470697" y="2312289"/>
              <a:ext cx="8982710" cy="19993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913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91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835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en-GB" sz="1800" dirty="0">
                              <a:sym typeface="+mn-ea"/>
                            </a:rPr>
                            <a:t>FOR MULTIPLICATION</a:t>
                          </a:r>
                          <a:endParaRPr lang="en-US" altLang="en-GB" sz="1800" b="1" dirty="0"/>
                        </a:p>
                        <a:p>
                          <a:pPr>
                            <a:buNone/>
                          </a:pPr>
                          <a:endParaRPr lang="en-GB" altLang="en-US" dirty="0"/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en-GB"/>
                            <a:t>FOR ADDITION</a:t>
                          </a: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15771"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>
                        <a:blipFill>
                          <a:blip r:embed="rId4"/>
                          <a:stretch>
                            <a:fillRect l="-136" t="-67000" r="-100543" b="-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>
                        <a:blipFill>
                          <a:blip r:embed="rId4"/>
                          <a:stretch>
                            <a:fillRect l="-100136" t="-67000" r="-543" b="-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660960"/>
            <a:ext cx="10515600" cy="1160145"/>
          </a:xfrm>
        </p:spPr>
        <p:txBody>
          <a:bodyPr/>
          <a:lstStyle/>
          <a:p>
            <a:pPr algn="ctr"/>
            <a:r>
              <a:rPr lang="en-US" altLang="en-GB" b="1" dirty="0"/>
              <a:t>5.Commutative</a:t>
            </a:r>
            <a:r>
              <a:rPr lang="en-US" altLang="en-GB" dirty="0"/>
              <a:t> </a:t>
            </a:r>
            <a:r>
              <a:rPr lang="en-US" altLang="en-GB" b="1" dirty="0">
                <a:sym typeface="+mn-ea"/>
              </a:rPr>
              <a:t>law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4222376"/>
            <a:ext cx="10515600" cy="2512695"/>
          </a:xfrm>
        </p:spPr>
        <p:txBody>
          <a:bodyPr>
            <a:normAutofit fontScale="97500"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E.g. if A = 1 and B = 0</a:t>
            </a:r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A+B = B+ A</a:t>
            </a:r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1+O = 0+1</a:t>
            </a:r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      1=1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In this case, the value positions can be interchanged without the equation losing meaning.</a:t>
            </a:r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4003032"/>
              </p:ext>
            </p:extLst>
          </p:nvPr>
        </p:nvGraphicFramePr>
        <p:xfrm>
          <a:off x="1479550" y="2295114"/>
          <a:ext cx="9232900" cy="1821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dirty="0">
                          <a:sym typeface="+mn-ea"/>
                        </a:rPr>
                        <a:t>FOR MULTIPLICATION</a:t>
                      </a:r>
                      <a:endParaRPr lang="en-US" altLang="en-GB" sz="1800" b="1" dirty="0"/>
                    </a:p>
                    <a:p>
                      <a:pPr>
                        <a:buNone/>
                      </a:pPr>
                      <a:endParaRPr lang="en-GB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 A*B= B*A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A+B=B+A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GB" b="1" dirty="0"/>
              <a:t>6.Double negation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4D1A27-CBD8-881A-5595-1D0137D5D10C}"/>
                  </a:ext>
                </a:extLst>
              </p:cNvPr>
              <p:cNvSpPr txBox="1"/>
              <p:nvPr/>
            </p:nvSpPr>
            <p:spPr>
              <a:xfrm>
                <a:off x="1389529" y="2707341"/>
                <a:ext cx="8973671" cy="2514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G" sz="4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G" sz="4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G" sz="4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acc>
                      <m:r>
                        <a:rPr lang="en-UG" sz="4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G" sz="40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4000" dirty="0"/>
              </a:p>
              <a:p>
                <a:endParaRPr lang="en-US" sz="4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In this case, applying complement twice on the same value returns that same value since the complements cancel themselves out.</a:t>
                </a:r>
                <a:endParaRPr lang="en-UG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4D1A27-CBD8-881A-5595-1D0137D5D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529" y="2707341"/>
                <a:ext cx="8973671" cy="2514663"/>
              </a:xfrm>
              <a:prstGeom prst="rect">
                <a:avLst/>
              </a:prstGeom>
              <a:blipFill>
                <a:blip r:embed="rId2"/>
                <a:stretch>
                  <a:fillRect l="-951" b="-4358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0145"/>
          </a:xfrm>
        </p:spPr>
        <p:txBody>
          <a:bodyPr>
            <a:normAutofit fontScale="90000"/>
          </a:bodyPr>
          <a:lstStyle/>
          <a:p>
            <a:pPr algn="ctr"/>
            <a:br>
              <a:rPr lang="en-US" altLang="en-GB" b="1" dirty="0"/>
            </a:br>
            <a:r>
              <a:rPr lang="en-US" altLang="en-GB" b="1" dirty="0"/>
              <a:t>7.Associative</a:t>
            </a:r>
            <a:r>
              <a:rPr lang="en-US" altLang="en-GB" dirty="0"/>
              <a:t> </a:t>
            </a:r>
            <a:r>
              <a:rPr lang="en-US" altLang="en-GB" b="1" dirty="0">
                <a:sym typeface="+mn-ea"/>
              </a:rPr>
              <a:t>law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29582" y="4222865"/>
            <a:ext cx="10515600" cy="2477855"/>
          </a:xfrm>
        </p:spPr>
        <p:txBody>
          <a:bodyPr>
            <a:norm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E.g. if A = 1 ,B = 0,C=1</a:t>
            </a:r>
          </a:p>
          <a:p>
            <a:pPr marL="0" indent="365125" algn="l">
              <a:buFont typeface="Arial" panose="020B0604020202020204" pitchFamily="34" charset="0"/>
              <a:buNone/>
            </a:pPr>
            <a:r>
              <a:rPr lang="en-US" altLang="en-GB" b="1" dirty="0"/>
              <a:t>A+(B+C) =( A+ B)+C</a:t>
            </a:r>
          </a:p>
          <a:p>
            <a:pPr marL="0" indent="365125" algn="l">
              <a:buFont typeface="Arial" panose="020B0604020202020204" pitchFamily="34" charset="0"/>
              <a:buNone/>
            </a:pPr>
            <a:r>
              <a:rPr lang="en-US" altLang="en-GB" b="1" dirty="0"/>
              <a:t>1+(O +1) = (1+0)+1  </a:t>
            </a:r>
          </a:p>
          <a:p>
            <a:pPr marL="0" indent="365125" algn="l">
              <a:buFont typeface="Arial" panose="020B0604020202020204" pitchFamily="34" charset="0"/>
              <a:buNone/>
            </a:pPr>
            <a:r>
              <a:rPr lang="en-US" altLang="en-GB" b="1" dirty="0"/>
              <a:t>             1= 1(NOT = 2)</a:t>
            </a:r>
          </a:p>
          <a:p>
            <a:pPr marL="0" indent="82550" algn="l">
              <a:buFont typeface="Arial" panose="020B0604020202020204" pitchFamily="34" charset="0"/>
              <a:buNone/>
            </a:pPr>
            <a:r>
              <a:rPr lang="en-US" altLang="en-GB" b="1" dirty="0"/>
              <a:t>N.B: When grouping 3 o more variables with the same operator, the order of grouping doesn’t change the outcome.</a:t>
            </a:r>
          </a:p>
          <a:p>
            <a:pPr marL="0" indent="365125" algn="l"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 dirty="0"/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5894673"/>
              </p:ext>
            </p:extLst>
          </p:nvPr>
        </p:nvGraphicFramePr>
        <p:xfrm>
          <a:off x="838200" y="2339746"/>
          <a:ext cx="10606982" cy="1634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2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dirty="0">
                          <a:sym typeface="+mn-ea"/>
                        </a:rPr>
                        <a:t>FOR MULTIPLICATION</a:t>
                      </a:r>
                      <a:endParaRPr lang="en-US" altLang="en-GB" sz="1800" b="1" dirty="0"/>
                    </a:p>
                    <a:p>
                      <a:pPr>
                        <a:buNone/>
                      </a:pPr>
                      <a:endParaRPr lang="en-GB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FOR ADDITION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4400" dirty="0"/>
                        <a:t> A*(B*C)=(A* B)*C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4400" dirty="0"/>
                        <a:t>A+(B+C)=(A+B)+C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GB" b="1" dirty="0">
                <a:solidFill>
                  <a:schemeClr val="accent5"/>
                </a:solidFill>
              </a:rPr>
              <a:t> NUMBER TWO: </a:t>
            </a:r>
            <a:r>
              <a:rPr lang="en-US" altLang="en-GB" b="1" dirty="0"/>
              <a:t>De MORGAN’S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42FB819-A9CB-5D1B-5257-C25C8804BB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3752468"/>
                  </p:ext>
                </p:extLst>
              </p:nvPr>
            </p:nvGraphicFramePr>
            <p:xfrm>
              <a:off x="1745128" y="3090835"/>
              <a:ext cx="8411884" cy="15484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5942">
                      <a:extLst>
                        <a:ext uri="{9D8B030D-6E8A-4147-A177-3AD203B41FA5}">
                          <a16:colId xmlns:a16="http://schemas.microsoft.com/office/drawing/2014/main" val="2781947983"/>
                        </a:ext>
                      </a:extLst>
                    </a:gridCol>
                    <a:gridCol w="4205942">
                      <a:extLst>
                        <a:ext uri="{9D8B030D-6E8A-4147-A177-3AD203B41FA5}">
                          <a16:colId xmlns:a16="http://schemas.microsoft.com/office/drawing/2014/main" val="2247747916"/>
                        </a:ext>
                      </a:extLst>
                    </a:gridCol>
                  </a:tblGrid>
                  <a:tr h="7742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FOR MULTIPLICATION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FOR ADDITION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1712732"/>
                      </a:ext>
                    </a:extLst>
                  </a:tr>
                  <a:tr h="77420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G" sz="36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G" sz="36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G" sz="3600" i="0" dirty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G" sz="3600" i="1" dirty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G" sz="3600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G" sz="3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G" sz="36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G" sz="3600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G" sz="3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G" sz="3600" i="1" dirty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G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G" sz="36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G" sz="36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G" sz="3600" i="0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G" sz="3600" i="1" dirty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G" sz="3600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G" sz="3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G" sz="36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sz="3600" b="0" i="0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G" sz="3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G" sz="3600" i="1" dirty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G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88680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42FB819-A9CB-5D1B-5257-C25C8804BB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3752468"/>
                  </p:ext>
                </p:extLst>
              </p:nvPr>
            </p:nvGraphicFramePr>
            <p:xfrm>
              <a:off x="1745128" y="3090835"/>
              <a:ext cx="8411884" cy="15484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5942">
                      <a:extLst>
                        <a:ext uri="{9D8B030D-6E8A-4147-A177-3AD203B41FA5}">
                          <a16:colId xmlns:a16="http://schemas.microsoft.com/office/drawing/2014/main" val="2781947983"/>
                        </a:ext>
                      </a:extLst>
                    </a:gridCol>
                    <a:gridCol w="4205942">
                      <a:extLst>
                        <a:ext uri="{9D8B030D-6E8A-4147-A177-3AD203B41FA5}">
                          <a16:colId xmlns:a16="http://schemas.microsoft.com/office/drawing/2014/main" val="2247747916"/>
                        </a:ext>
                      </a:extLst>
                    </a:gridCol>
                  </a:tblGrid>
                  <a:tr h="7742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FOR MULTIPLICATION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FOR ADDITION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1712732"/>
                      </a:ext>
                    </a:extLst>
                  </a:tr>
                  <a:tr h="774202"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>
                        <a:blipFill>
                          <a:blip r:embed="rId2"/>
                          <a:stretch>
                            <a:fillRect l="-145" t="-104724" r="-100434" b="-15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>
                        <a:blipFill>
                          <a:blip r:embed="rId2"/>
                          <a:stretch>
                            <a:fillRect l="-100290" t="-104724" r="-580" b="-15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88680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19431E-F6C9-6EF8-1BC3-D6D92C57B4B0}"/>
                  </a:ext>
                </a:extLst>
              </p:cNvPr>
              <p:cNvSpPr txBox="1"/>
              <p:nvPr/>
            </p:nvSpPr>
            <p:spPr>
              <a:xfrm>
                <a:off x="5995894" y="4728886"/>
                <a:ext cx="480508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addition;</a:t>
                </a:r>
              </a:p>
              <a:p>
                <a:pPr algn="ctr"/>
                <a:r>
                  <a:rPr lang="en-US" dirty="0"/>
                  <a:t>Given; U={1,2,3,4,5,6,7,8}</a:t>
                </a:r>
              </a:p>
              <a:p>
                <a:pPr algn="ctr"/>
                <a:r>
                  <a:rPr lang="en-US" dirty="0"/>
                  <a:t>A={3,4,5} B={4,5,6}</a:t>
                </a:r>
              </a:p>
              <a:p>
                <a:pPr algn="ctr"/>
                <a:r>
                  <a:rPr lang="en-US" dirty="0"/>
                  <a:t>(AUB)={3,4,5,6} | (AUB)’={1,2,7,8}</a:t>
                </a:r>
              </a:p>
              <a:p>
                <a:pPr algn="ctr"/>
                <a:r>
                  <a:rPr lang="en-US" dirty="0"/>
                  <a:t>Ā={1,2,6,7,8}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G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G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={1,2,3,7,8} | Ā</a:t>
                </a:r>
                <a:r>
                  <a:rPr lang="el-GR" dirty="0"/>
                  <a:t>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G" sz="1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G" sz="18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=</a:t>
                </a:r>
                <a:r>
                  <a:rPr lang="en-US" sz="1600" dirty="0"/>
                  <a:t>{</a:t>
                </a:r>
                <a:r>
                  <a:rPr lang="en-US" dirty="0"/>
                  <a:t>1,2,7,8}</a:t>
                </a:r>
              </a:p>
              <a:p>
                <a:pPr algn="ctr"/>
                <a:r>
                  <a:rPr lang="en-US" dirty="0"/>
                  <a:t>(AUB)’= Ā</a:t>
                </a:r>
                <a:r>
                  <a:rPr lang="el-GR" dirty="0"/>
                  <a:t>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G" sz="1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G" sz="18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G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19431E-F6C9-6EF8-1BC3-D6D92C57B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894" y="4728886"/>
                <a:ext cx="4805082" cy="1754326"/>
              </a:xfrm>
              <a:prstGeom prst="rect">
                <a:avLst/>
              </a:prstGeom>
              <a:blipFill>
                <a:blip r:embed="rId3"/>
                <a:stretch>
                  <a:fillRect l="-1142" t="-2083" b="-4514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BAE1DF5-58EF-4AE2-C82C-FCE75BC5D69A}"/>
                  </a:ext>
                </a:extLst>
              </p:cNvPr>
              <p:cNvSpPr txBox="1"/>
              <p:nvPr/>
            </p:nvSpPr>
            <p:spPr>
              <a:xfrm>
                <a:off x="1154954" y="4728886"/>
                <a:ext cx="468854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multiplication;</a:t>
                </a:r>
              </a:p>
              <a:p>
                <a:pPr algn="ctr"/>
                <a:r>
                  <a:rPr lang="en-US" dirty="0"/>
                  <a:t>Given; U={1,2,3,4,5,6,7,8}</a:t>
                </a:r>
              </a:p>
              <a:p>
                <a:pPr algn="ctr"/>
                <a:r>
                  <a:rPr lang="en-US" dirty="0"/>
                  <a:t>A={3,4,5} B={4,5,6}</a:t>
                </a:r>
              </a:p>
              <a:p>
                <a:pPr algn="ctr"/>
                <a:r>
                  <a:rPr lang="en-US" dirty="0"/>
                  <a:t>(A</a:t>
                </a:r>
                <a:r>
                  <a:rPr lang="el-GR" dirty="0"/>
                  <a:t>Π</a:t>
                </a:r>
                <a:r>
                  <a:rPr lang="en-US" dirty="0"/>
                  <a:t>B)={4,5} | (A</a:t>
                </a:r>
                <a:r>
                  <a:rPr lang="el-GR" dirty="0"/>
                  <a:t>Π</a:t>
                </a:r>
                <a:r>
                  <a:rPr lang="en-US" dirty="0"/>
                  <a:t>B)’={1,2,3,6,7,8}</a:t>
                </a:r>
              </a:p>
              <a:p>
                <a:pPr algn="ctr"/>
                <a:r>
                  <a:rPr lang="en-US" dirty="0"/>
                  <a:t>Ā={1,2,6,7,8}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G" sz="1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G" sz="18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={1,2,3,7,8} | ĀU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G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G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={1,2,3,6,7,8}</a:t>
                </a:r>
              </a:p>
              <a:p>
                <a:pPr algn="ctr"/>
                <a:r>
                  <a:rPr lang="en-US" dirty="0"/>
                  <a:t>Ā</a:t>
                </a:r>
                <a:r>
                  <a:rPr lang="el-GR" dirty="0"/>
                  <a:t>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G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G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G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ĀU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G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G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BAE1DF5-58EF-4AE2-C82C-FCE75BC5D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954" y="4728886"/>
                <a:ext cx="4688541" cy="2031325"/>
              </a:xfrm>
              <a:prstGeom prst="rect">
                <a:avLst/>
              </a:prstGeom>
              <a:blipFill>
                <a:blip r:embed="rId4"/>
                <a:stretch>
                  <a:fillRect l="-1039" t="-1802" b="-3904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EA326BF-9EFA-B21B-E796-F16890CEA110}"/>
              </a:ext>
            </a:extLst>
          </p:cNvPr>
          <p:cNvSpPr txBox="1"/>
          <p:nvPr/>
        </p:nvSpPr>
        <p:spPr>
          <a:xfrm>
            <a:off x="1154954" y="2492014"/>
            <a:ext cx="9888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 Morgan’s Laws explain how statements behave when a negation(“NOT”) is applied.</a:t>
            </a:r>
            <a:endParaRPr lang="en-UG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E0CE3-515C-2295-714C-0D21C400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When to apply De Morgan’s Laws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153BF-573B-C987-BD4C-A623A1EC4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converting between AND </a:t>
            </a:r>
            <a:r>
              <a:rPr lang="en-US" dirty="0" err="1"/>
              <a:t>and</a:t>
            </a:r>
            <a:r>
              <a:rPr lang="en-US" dirty="0"/>
              <a:t> OR expressions.</a:t>
            </a:r>
          </a:p>
          <a:p>
            <a:r>
              <a:rPr lang="en-US" dirty="0"/>
              <a:t>When simplifying Boolean Expressions.</a:t>
            </a:r>
          </a:p>
          <a:p>
            <a:r>
              <a:rPr lang="en-US" dirty="0"/>
              <a:t>When working with computer programming conditions.</a:t>
            </a:r>
          </a:p>
          <a:p>
            <a:r>
              <a:rPr lang="en-US" dirty="0"/>
              <a:t>When designing digital logic circuits.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50151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GB" b="1" dirty="0">
                <a:solidFill>
                  <a:schemeClr val="accent5"/>
                </a:solidFill>
              </a:rPr>
              <a:t> NUMBER THREE(A): </a:t>
            </a:r>
            <a:r>
              <a:rPr lang="en-US" altLang="en-GB" b="1" dirty="0"/>
              <a:t>ABSORPTION LAW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974F95-C340-FF2B-7C21-6B4C5A880FAA}"/>
              </a:ext>
            </a:extLst>
          </p:cNvPr>
          <p:cNvSpPr txBox="1"/>
          <p:nvPr/>
        </p:nvSpPr>
        <p:spPr>
          <a:xfrm>
            <a:off x="708212" y="2393577"/>
            <a:ext cx="10336306" cy="267765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vl="1"/>
            <a:r>
              <a:rPr lang="en-US" sz="2800" b="1" dirty="0"/>
              <a:t>First Law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A+(A*B)=A </a:t>
            </a:r>
          </a:p>
          <a:p>
            <a:endParaRPr lang="en-US" sz="2800" dirty="0"/>
          </a:p>
          <a:p>
            <a:pPr lvl="1"/>
            <a:r>
              <a:rPr lang="en-US" sz="2800" b="1" dirty="0"/>
              <a:t>Second Law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A(A+B)=A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/>
              <a:t>Extended Absorption Law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A+(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Ā*B</a:t>
            </a:r>
            <a:r>
              <a:rPr lang="en-US" sz="2800" dirty="0"/>
              <a:t>)=A+B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A*(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Ā+B</a:t>
            </a:r>
            <a:r>
              <a:rPr lang="en-US" sz="2800" dirty="0"/>
              <a:t>)=A*B</a:t>
            </a:r>
          </a:p>
          <a:p>
            <a:r>
              <a:rPr lang="en-US" sz="2800" dirty="0"/>
              <a:t>N.B: Only the complemented A is absorbed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199" y="782796"/>
            <a:ext cx="10515600" cy="1160145"/>
          </a:xfrm>
        </p:spPr>
        <p:txBody>
          <a:bodyPr/>
          <a:lstStyle/>
          <a:p>
            <a:pPr algn="ctr"/>
            <a:r>
              <a:rPr lang="en-US" altLang="en-GB" b="1" dirty="0">
                <a:solidFill>
                  <a:schemeClr val="accent5"/>
                </a:solidFill>
              </a:rPr>
              <a:t>NO.3(B):</a:t>
            </a:r>
            <a:r>
              <a:rPr lang="en-US" altLang="en-GB" b="1" dirty="0"/>
              <a:t>Distributive </a:t>
            </a:r>
            <a:r>
              <a:rPr lang="en-US" altLang="en-GB" dirty="0"/>
              <a:t> </a:t>
            </a:r>
            <a:r>
              <a:rPr lang="en-US" altLang="en-GB" b="1" dirty="0">
                <a:sym typeface="+mn-ea"/>
              </a:rPr>
              <a:t>law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525270"/>
            <a:ext cx="10515600" cy="4652010"/>
          </a:xfrm>
        </p:spPr>
        <p:txBody>
          <a:bodyPr>
            <a:norm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 dirty="0"/>
              <a:t> 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  </a:t>
            </a:r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2719948"/>
              </p:ext>
            </p:extLst>
          </p:nvPr>
        </p:nvGraphicFramePr>
        <p:xfrm>
          <a:off x="838201" y="2360613"/>
          <a:ext cx="10515600" cy="1627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3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1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dirty="0">
                          <a:sym typeface="+mn-ea"/>
                        </a:rPr>
                        <a:t>FOR MULTIPLICATION</a:t>
                      </a:r>
                      <a:endParaRPr lang="en-US" altLang="en-GB" sz="1800" b="1" dirty="0"/>
                    </a:p>
                    <a:p>
                      <a:pPr>
                        <a:buNone/>
                      </a:pPr>
                      <a:endParaRPr lang="en-GB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3200" dirty="0"/>
                        <a:t> A+(B*C)=(A+B)*(A+C)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3200" dirty="0"/>
                        <a:t>A*(B+C)=(A*B)+(A*C)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EA4B0F5-1769-70BA-8563-AC6D17D4DD70}"/>
              </a:ext>
            </a:extLst>
          </p:cNvPr>
          <p:cNvSpPr txBox="1"/>
          <p:nvPr/>
        </p:nvSpPr>
        <p:spPr>
          <a:xfrm>
            <a:off x="838199" y="4322618"/>
            <a:ext cx="10515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N.B: This works just like; x(</a:t>
            </a:r>
            <a:r>
              <a:rPr lang="en-US" sz="2200" b="1" dirty="0" err="1"/>
              <a:t>y+z</a:t>
            </a:r>
            <a:r>
              <a:rPr lang="en-US" sz="2200" b="1" dirty="0"/>
              <a:t>)=</a:t>
            </a:r>
            <a:r>
              <a:rPr lang="en-US" sz="2200" b="1" dirty="0" err="1"/>
              <a:t>xy+xz</a:t>
            </a:r>
            <a:r>
              <a:rPr lang="en-US" sz="2200" b="1" dirty="0"/>
              <a:t> from high school.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854825"/>
            <a:ext cx="8761413" cy="706964"/>
          </a:xfrm>
        </p:spPr>
        <p:txBody>
          <a:bodyPr>
            <a:normAutofit/>
          </a:bodyPr>
          <a:lstStyle/>
          <a:p>
            <a:pPr algn="ctr"/>
            <a:r>
              <a:rPr lang="en-US" altLang="en-GB" b="1" dirty="0">
                <a:solidFill>
                  <a:schemeClr val="accent5"/>
                </a:solidFill>
              </a:rPr>
              <a:t>NUMBER FOUR: </a:t>
            </a:r>
            <a:r>
              <a:rPr lang="en-US" altLang="en-GB" b="1" dirty="0">
                <a:solidFill>
                  <a:schemeClr val="bg1"/>
                </a:solidFill>
              </a:rPr>
              <a:t>CHEAT SHEET</a:t>
            </a:r>
            <a:endParaRPr lang="en-US" alt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>
                <a:solidFill>
                  <a:schemeClr val="accent5"/>
                </a:solidFill>
              </a:rPr>
              <a:t> </a:t>
            </a:r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124723"/>
              </p:ext>
            </p:extLst>
          </p:nvPr>
        </p:nvGraphicFramePr>
        <p:xfrm>
          <a:off x="1371600" y="2388741"/>
          <a:ext cx="9665446" cy="3495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2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 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dirty="0">
                          <a:latin typeface="Arial Black" panose="020B0A04020102020204" charset="0"/>
                          <a:cs typeface="Arial Black" panose="020B0A04020102020204" charset="0"/>
                          <a:sym typeface="+mn-ea"/>
                        </a:rPr>
                        <a:t>∩ , ∧ , 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 dirty="0"/>
                        <a:t>“AND” or “INTERSECTION”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dirty="0">
                          <a:latin typeface="Arial Black" panose="020B0A04020102020204" charset="0"/>
                          <a:cs typeface="Arial Black" panose="020B0A04020102020204" charset="0"/>
                          <a:sym typeface="+mn-ea"/>
                        </a:rPr>
                        <a:t>∪ , ∨ ,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 dirty="0"/>
                        <a:t>“OR” or “UNION”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0" dirty="0">
                          <a:latin typeface="Arial Black" panose="020B0A04020102020204" charset="0"/>
                          <a:cs typeface="Arial Black" panose="020B0A04020102020204" charset="0"/>
                        </a:rPr>
                        <a:t>A’, Ā , ¬A , ~A , A'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 dirty="0"/>
                        <a:t>“NOT” or “COMPLEMENT”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0" dirty="0">
                          <a:latin typeface="Arial Black" panose="020B0A04020102020204" charset="0"/>
                          <a:cs typeface="Arial Black" panose="020B0A04020102020204" charset="0"/>
                        </a:rPr>
                        <a:t>(A ∩ B)’ , ¬(A ∧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 dirty="0"/>
                        <a:t>NAND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240627"/>
                  </a:ext>
                </a:extLst>
              </a:tr>
              <a:tr h="562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0" dirty="0">
                          <a:latin typeface="Arial Black" panose="020B0A04020102020204" charset="0"/>
                          <a:cs typeface="Arial Black" panose="020B0A04020102020204" charset="0"/>
                        </a:rPr>
                        <a:t>(A ∪ B)’ , ¬(A ∨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 dirty="0"/>
                        <a:t>NOR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050825"/>
                  </a:ext>
                </a:extLst>
              </a:tr>
              <a:tr h="562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0" dirty="0">
                          <a:latin typeface="Arial Black" panose="020B0A04020102020204" charset="0"/>
                          <a:cs typeface="Arial Black" panose="020B0A04020102020204" charset="0"/>
                        </a:rPr>
                        <a:t>∈ , 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 dirty="0"/>
                        <a:t>ELEMENT 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86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670" y="919880"/>
            <a:ext cx="8761413" cy="706964"/>
          </a:xfrm>
        </p:spPr>
        <p:txBody>
          <a:bodyPr/>
          <a:lstStyle/>
          <a:p>
            <a:pPr algn="ctr"/>
            <a:r>
              <a:rPr lang="en-US" altLang="en-GB" b="1" dirty="0">
                <a:solidFill>
                  <a:schemeClr val="accent5"/>
                </a:solidFill>
              </a:rPr>
              <a:t>NUMBER FOUR: </a:t>
            </a:r>
            <a:r>
              <a:rPr lang="en-US" altLang="en-GB" b="1" dirty="0"/>
              <a:t>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48752"/>
            <a:ext cx="10515600" cy="3828527"/>
          </a:xfrm>
        </p:spPr>
        <p:txBody>
          <a:bodyPr>
            <a:normAutofit fontScale="97500"/>
          </a:bodyPr>
          <a:lstStyle/>
          <a:p>
            <a:r>
              <a:rPr lang="en-US" altLang="en-GB" b="1" dirty="0">
                <a:solidFill>
                  <a:schemeClr val="accent5"/>
                </a:solidFill>
              </a:rPr>
              <a:t>1.The identity and null rules ( quick reduction)</a:t>
            </a:r>
            <a:endParaRPr lang="en-US" altLang="en-GB" dirty="0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</a:rPr>
              <a:t>x </a:t>
            </a: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˄ 1 = X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X ˅ 0 = X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X ˄ 0 = 0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</a:rPr>
              <a:t>X </a:t>
            </a: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˅ 1 = 1</a:t>
            </a:r>
          </a:p>
          <a:p>
            <a:r>
              <a:rPr lang="en-US" altLang="en-GB" b="1" dirty="0">
                <a:solidFill>
                  <a:schemeClr val="accent5"/>
                </a:solidFill>
                <a:latin typeface="Arial Black" panose="020B0A04020102020204" charset="0"/>
                <a:cs typeface="Arial Black" panose="020B0A04020102020204" charset="0"/>
              </a:rPr>
              <a:t>2.T</a:t>
            </a:r>
            <a:r>
              <a:rPr lang="en-US" altLang="en-GB" dirty="0">
                <a:solidFill>
                  <a:schemeClr val="accent5"/>
                </a:solidFill>
                <a:latin typeface="Arial Black" panose="020B0A04020102020204" charset="0"/>
                <a:cs typeface="Arial Black" panose="020B0A04020102020204" charset="0"/>
              </a:rPr>
              <a:t>he complement rules ( canceling out)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X˄¬X = 0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X˅¬X = 1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¬(¬X) = X</a:t>
            </a:r>
          </a:p>
          <a:p>
            <a:pPr marL="0" indent="0">
              <a:buNone/>
            </a:pPr>
            <a:endParaRPr lang="en-US" altLang="en-GB" dirty="0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dirty="0">
              <a:solidFill>
                <a:schemeClr val="accent5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961" y="965799"/>
            <a:ext cx="8761413" cy="706964"/>
          </a:xfrm>
        </p:spPr>
        <p:txBody>
          <a:bodyPr>
            <a:normAutofit/>
          </a:bodyPr>
          <a:lstStyle/>
          <a:p>
            <a:pPr algn="ctr"/>
            <a:r>
              <a:rPr lang="en-US" altLang="en-GB" b="1" dirty="0">
                <a:solidFill>
                  <a:schemeClr val="accent1"/>
                </a:solidFill>
              </a:rPr>
              <a:t>NUMBER FIVE: </a:t>
            </a:r>
            <a:r>
              <a:rPr lang="en-US" altLang="en-GB" b="1" dirty="0"/>
              <a:t>TRUTH TABLES</a:t>
            </a:r>
          </a:p>
        </p:txBody>
      </p:sp>
      <p:sp>
        <p:nvSpPr>
          <p:cNvPr id="7" name="Flowchart: Connector 6"/>
          <p:cNvSpPr/>
          <p:nvPr/>
        </p:nvSpPr>
        <p:spPr>
          <a:xfrm flipV="1">
            <a:off x="7148195" y="1967230"/>
            <a:ext cx="79375" cy="76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/>
              <a:t> </a:t>
            </a:r>
          </a:p>
        </p:txBody>
      </p:sp>
      <p:sp>
        <p:nvSpPr>
          <p:cNvPr id="8" name="Flowchart: Connector 7"/>
          <p:cNvSpPr/>
          <p:nvPr/>
        </p:nvSpPr>
        <p:spPr>
          <a:xfrm flipV="1">
            <a:off x="8105140" y="1967230"/>
            <a:ext cx="76200" cy="7683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D31C3-15B8-EE4C-055F-EAD8476E8DB4}"/>
              </a:ext>
            </a:extLst>
          </p:cNvPr>
          <p:cNvSpPr txBox="1"/>
          <p:nvPr/>
        </p:nvSpPr>
        <p:spPr>
          <a:xfrm>
            <a:off x="544888" y="2337897"/>
            <a:ext cx="11059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Truth Tables prove that the part of the equation on the right side is equal to the part on the left side of the equal(=) sign. E.g. Given A+ĀB=A+B ,it shows that both side produce the same output hence the statement is true.</a:t>
            </a:r>
            <a:endParaRPr lang="en-UG" sz="2000" b="1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645CD53-F305-B0A4-58F8-CFC0D1DD8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4799023"/>
              </p:ext>
            </p:extLst>
          </p:nvPr>
        </p:nvGraphicFramePr>
        <p:xfrm>
          <a:off x="544887" y="3339615"/>
          <a:ext cx="11059680" cy="3260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280">
                  <a:extLst>
                    <a:ext uri="{9D8B030D-6E8A-4147-A177-3AD203B41FA5}">
                      <a16:colId xmlns:a16="http://schemas.microsoft.com/office/drawing/2014/main" val="2740257974"/>
                    </a:ext>
                  </a:extLst>
                </a:gridCol>
                <a:gridCol w="1843280">
                  <a:extLst>
                    <a:ext uri="{9D8B030D-6E8A-4147-A177-3AD203B41FA5}">
                      <a16:colId xmlns:a16="http://schemas.microsoft.com/office/drawing/2014/main" val="353747147"/>
                    </a:ext>
                  </a:extLst>
                </a:gridCol>
                <a:gridCol w="1843280">
                  <a:extLst>
                    <a:ext uri="{9D8B030D-6E8A-4147-A177-3AD203B41FA5}">
                      <a16:colId xmlns:a16="http://schemas.microsoft.com/office/drawing/2014/main" val="3531386289"/>
                    </a:ext>
                  </a:extLst>
                </a:gridCol>
                <a:gridCol w="1843280">
                  <a:extLst>
                    <a:ext uri="{9D8B030D-6E8A-4147-A177-3AD203B41FA5}">
                      <a16:colId xmlns:a16="http://schemas.microsoft.com/office/drawing/2014/main" val="640726738"/>
                    </a:ext>
                  </a:extLst>
                </a:gridCol>
                <a:gridCol w="1843280">
                  <a:extLst>
                    <a:ext uri="{9D8B030D-6E8A-4147-A177-3AD203B41FA5}">
                      <a16:colId xmlns:a16="http://schemas.microsoft.com/office/drawing/2014/main" val="3778317182"/>
                    </a:ext>
                  </a:extLst>
                </a:gridCol>
                <a:gridCol w="1843280">
                  <a:extLst>
                    <a:ext uri="{9D8B030D-6E8A-4147-A177-3AD203B41FA5}">
                      <a16:colId xmlns:a16="http://schemas.microsoft.com/office/drawing/2014/main" val="3924595555"/>
                    </a:ext>
                  </a:extLst>
                </a:gridCol>
              </a:tblGrid>
              <a:tr h="652138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</a:t>
                      </a:r>
                      <a:endParaRPr lang="en-UG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B</a:t>
                      </a:r>
                      <a:endParaRPr lang="en-UG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A+B</a:t>
                      </a:r>
                      <a:endParaRPr lang="en-UG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Ā</a:t>
                      </a:r>
                      <a:endParaRPr lang="en-UG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ĀB</a:t>
                      </a:r>
                      <a:endParaRPr lang="en-UG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A+ĀB</a:t>
                      </a:r>
                      <a:endParaRPr lang="en-UG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176736"/>
                  </a:ext>
                </a:extLst>
              </a:tr>
              <a:tr h="6521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G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G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526185"/>
                  </a:ext>
                </a:extLst>
              </a:tr>
              <a:tr h="6521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G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G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987304"/>
                  </a:ext>
                </a:extLst>
              </a:tr>
              <a:tr h="6521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G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G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723724"/>
                  </a:ext>
                </a:extLst>
              </a:tr>
              <a:tr h="6521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G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G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1292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4CBD9-CDE2-4C38-8541-61C2F3E3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6365B-6FBE-EE7C-8FBC-75FC85A26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Most of these laws can be applied in Set Theory to be understand much more.</a:t>
            </a:r>
          </a:p>
          <a:p>
            <a:r>
              <a:rPr lang="en-US" sz="2400" b="1" dirty="0"/>
              <a:t>As seen from the Cheat Sheet Side, the symbols can change from those in Set Theory to those in Logic but the meaning remains the same.</a:t>
            </a:r>
            <a:endParaRPr lang="en-UG" sz="2400" b="1" dirty="0"/>
          </a:p>
        </p:txBody>
      </p:sp>
    </p:spTree>
    <p:extLst>
      <p:ext uri="{BB962C8B-B14F-4D97-AF65-F5344CB8AC3E}">
        <p14:creationId xmlns:p14="http://schemas.microsoft.com/office/powerpoint/2010/main" val="21024277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07*109"/>
  <p:tag name="TABLE_ENDDRAG_RECT" val="108*191*707*10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07*109"/>
  <p:tag name="TABLE_ENDDRAG_RECT" val="108*191*707*10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26*143"/>
  <p:tag name="TABLE_ENDDRAG_RECT" val="77*130*726*14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07*109"/>
  <p:tag name="TABLE_ENDDRAG_RECT" val="108*191*707*10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26*143"/>
  <p:tag name="TABLE_ENDDRAG_RECT" val="77*130*726*14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26*143"/>
  <p:tag name="TABLE_ENDDRAG_RECT" val="77*130*726*14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26*143"/>
  <p:tag name="TABLE_ENDDRAG_RECT" val="77*130*726*14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7*349"/>
  <p:tag name="TABLE_ENDDRAG_RECT" val="78*153*767*349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843527A-E49C-4EEB-B25E-EDF9AB08794F}">
  <we:reference id="wa104379279" version="2.1.0.0" store="en-001" storeType="OMEX"/>
  <we:alternateReferences>
    <we:reference id="WA104379279" version="2.1.0.0" store="WA10437927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358</TotalTime>
  <Words>1220</Words>
  <Application>Microsoft Office PowerPoint</Application>
  <PresentationFormat>Widescreen</PresentationFormat>
  <Paragraphs>232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Bahnschrift SemiBold</vt:lpstr>
      <vt:lpstr>Cambria Math</vt:lpstr>
      <vt:lpstr>Century Gothic</vt:lpstr>
      <vt:lpstr>Wingdings</vt:lpstr>
      <vt:lpstr>Wingdings 3</vt:lpstr>
      <vt:lpstr>Ion Boardroom</vt:lpstr>
      <vt:lpstr>COURSE UNIT: MATHS IST 1106 SEMESTER:1 LECTURER: BYANSI DAVID GROUP: D  </vt:lpstr>
      <vt:lpstr>QUESTIONS</vt:lpstr>
      <vt:lpstr>NUMBER ONE: FUNDAMENTALS OF BOOLEAN ALGEBRA</vt:lpstr>
      <vt:lpstr>1.Identity Law</vt:lpstr>
      <vt:lpstr>2.Null Law</vt:lpstr>
      <vt:lpstr>3.Idempotent Law</vt:lpstr>
      <vt:lpstr>4.Complement law</vt:lpstr>
      <vt:lpstr>5.Commutative law</vt:lpstr>
      <vt:lpstr>6.Double negation law</vt:lpstr>
      <vt:lpstr> 7.Associative law</vt:lpstr>
      <vt:lpstr> NUMBER TWO: De MORGAN’S LAW</vt:lpstr>
      <vt:lpstr>When to apply De Morgan’s Laws</vt:lpstr>
      <vt:lpstr> NUMBER THREE(A): ABSORPTION LAW</vt:lpstr>
      <vt:lpstr>NO.3(B):Distributive  law</vt:lpstr>
      <vt:lpstr>NUMBER FOUR: CHEAT SHEET</vt:lpstr>
      <vt:lpstr>NUMBER FOUR: CHEAT SHEET</vt:lpstr>
      <vt:lpstr>NUMBER FIVE: TRUTH TABLES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THINKPAD</dc:creator>
  <cp:lastModifiedBy>jeremy kd</cp:lastModifiedBy>
  <cp:revision>32</cp:revision>
  <dcterms:created xsi:type="dcterms:W3CDTF">2025-07-23T00:59:00Z</dcterms:created>
  <dcterms:modified xsi:type="dcterms:W3CDTF">2026-08-23T15:25:28Z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EB331E2A747E41F285F93595524E0F98_11</vt:lpwstr>
  </property>
  <property fmtid="{D5CDD505-2E9C-101B-9397-08002B2CF9AE}" pid="3" name="KSOProductBuildVer">
    <vt:lpwstr>2057-12.2.0.23202</vt:lpwstr>
  </property>
</Properties>
</file>