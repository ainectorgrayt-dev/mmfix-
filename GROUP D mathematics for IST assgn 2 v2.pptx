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2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80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6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2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0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2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3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5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8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3325E-68CD-4A08-8589-3716015D6191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65761-C26B-43E0-AA23-099E922D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0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en-GB" sz="3200" b="1" dirty="0" smtClean="0"/>
              <a:t>COURSE UNIT: MATHS IST 1106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SEMESTER:1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LECTURER: BYANSI DAVID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GROUP: D</a:t>
            </a:r>
            <a:br>
              <a:rPr lang="en-US" altLang="en-GB" sz="3200" b="1" dirty="0" smtClean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861047"/>
            <a:ext cx="648072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4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Arial Black" pitchFamily="34" charset="0"/>
              </a:rPr>
              <a:t>RATIOS AND PROPORTIONS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Arial Black" pitchFamily="34" charset="0"/>
              </a:rPr>
              <a:t>Ratio</a:t>
            </a:r>
            <a:r>
              <a:rPr lang="en-GB" dirty="0" smtClean="0"/>
              <a:t>; a ratio is a mathematical comparison between two or more quantities to show how one much one is, compared to the other.</a:t>
            </a:r>
          </a:p>
          <a:p>
            <a:pPr marL="0" indent="0">
              <a:buNone/>
            </a:pPr>
            <a:r>
              <a:rPr lang="en-GB" dirty="0" smtClean="0">
                <a:latin typeface="Arial Black" pitchFamily="34" charset="0"/>
              </a:rPr>
              <a:t>Proportion</a:t>
            </a:r>
            <a:r>
              <a:rPr lang="en-GB" dirty="0" smtClean="0"/>
              <a:t>; this is a mathematical statement that shows a relationship between two or more quantities.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 smtClean="0"/>
              <a:t>types of proportions are; direct and indirect proportions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525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Direct proportion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In direct proportion an increase in one quantity leads to an increase in the other.</a:t>
            </a:r>
          </a:p>
          <a:p>
            <a:pPr marL="0" indent="0">
              <a:buNone/>
            </a:pPr>
            <a:r>
              <a:rPr lang="en-GB" dirty="0"/>
              <a:t>QN 1       </a:t>
            </a:r>
            <a:r>
              <a:rPr lang="en-GB" b="1" dirty="0"/>
              <a:t>consider a car uses 12 litres of petrol to travel 180 kilometres. how many litres of petrol are needed to travel 300 kilometres</a:t>
            </a:r>
            <a:r>
              <a:rPr lang="en-GB" sz="2600" b="1" dirty="0" smtClean="0"/>
              <a:t>.</a:t>
            </a:r>
            <a:r>
              <a:rPr lang="en-GB" sz="2600" b="1" dirty="0"/>
              <a:t> </a:t>
            </a:r>
            <a:endParaRPr lang="en-GB" sz="2600" b="1" dirty="0" smtClean="0"/>
          </a:p>
          <a:p>
            <a:pPr marL="0" indent="0">
              <a:buNone/>
            </a:pPr>
            <a:r>
              <a:rPr lang="en-GB" sz="2600" b="1" dirty="0" smtClean="0"/>
              <a:t>First(is </a:t>
            </a:r>
            <a:r>
              <a:rPr lang="en-GB" sz="2600" b="1" dirty="0"/>
              <a:t>the qn. Indirect or direct</a:t>
            </a:r>
            <a:r>
              <a:rPr lang="en-GB" sz="2600" b="1" dirty="0" smtClean="0"/>
              <a:t>)  For </a:t>
            </a:r>
            <a:r>
              <a:rPr lang="en-GB" sz="2600" b="1" dirty="0"/>
              <a:t>this its direct;??    Cause increase in no. of litres of petrol leads to increase in distance travelled.</a:t>
            </a:r>
          </a:p>
          <a:p>
            <a:pPr marL="0" indent="0">
              <a:buNone/>
            </a:pPr>
            <a:r>
              <a:rPr lang="en-GB" sz="2600" dirty="0"/>
              <a:t>So therefore let the litres of petrol used be </a:t>
            </a:r>
            <a:r>
              <a:rPr lang="en-GB" sz="2600" b="1" dirty="0"/>
              <a:t>y </a:t>
            </a:r>
            <a:r>
              <a:rPr lang="en-GB" sz="2600" dirty="0"/>
              <a:t>and kilometres be </a:t>
            </a:r>
            <a:r>
              <a:rPr lang="en-GB" sz="2600" b="1" dirty="0"/>
              <a:t>x, so y is directly proportional to x</a:t>
            </a:r>
            <a:endParaRPr lang="en-GB" sz="2600" b="1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0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Qn</a:t>
            </a:r>
            <a:r>
              <a:rPr lang="en-GB" b="1" dirty="0" smtClean="0"/>
              <a:t> 1 solution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GB" sz="3600" b="1" dirty="0" smtClean="0"/>
                  <a:t> </a:t>
                </a:r>
                <a:r>
                  <a:rPr lang="en-GB" sz="2100" b="1" dirty="0" smtClean="0"/>
                  <a:t>   </a:t>
                </a:r>
                <a:r>
                  <a:rPr lang="en-GB" sz="5100" b="1" dirty="0" smtClean="0"/>
                  <a:t>y </a:t>
                </a:r>
                <a14:m>
                  <m:oMath xmlns:m="http://schemas.openxmlformats.org/officeDocument/2006/math">
                    <m:r>
                      <a:rPr lang="el-GR" sz="5100" b="1" i="1" dirty="0" smtClean="0">
                        <a:latin typeface="Cambria Math"/>
                        <a:ea typeface="Cambria Math"/>
                      </a:rPr>
                      <m:t>∝</m:t>
                    </m:r>
                  </m:oMath>
                </a14:m>
                <a:r>
                  <a:rPr lang="en-GB" sz="5100" b="1" dirty="0" smtClean="0"/>
                  <a:t> x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Y= kx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k=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sz="5100" b="1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5100" b="1" i="1" dirty="0" smtClean="0">
                            <a:latin typeface="Cambria Math"/>
                          </a:rPr>
                          <m:t>𝒚</m:t>
                        </m:r>
                      </m:num>
                      <m:den>
                        <m:r>
                          <a:rPr lang="en-GB" sz="5100" b="1" i="1" dirty="0" smtClean="0">
                            <a:latin typeface="Cambria Math"/>
                          </a:rPr>
                          <m:t>𝒙</m:t>
                        </m:r>
                      </m:den>
                    </m:f>
                    <m:r>
                      <a:rPr lang="en-GB" sz="5100" b="1" i="1" dirty="0" smtClean="0">
                        <a:latin typeface="Cambria Math"/>
                      </a:rPr>
                      <m:t> =  </m:t>
                    </m:r>
                    <m:f>
                      <m:fPr>
                        <m:type m:val="skw"/>
                        <m:ctrlPr>
                          <a:rPr lang="en-GB" sz="5100" b="1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5100" b="1" i="1" dirty="0" smtClean="0">
                            <a:latin typeface="Cambria Math"/>
                          </a:rPr>
                          <m:t>𝒚</m:t>
                        </m:r>
                        <m:r>
                          <a:rPr lang="en-GB" sz="5100" b="1" i="1" dirty="0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5100" b="1" i="1" dirty="0" smtClean="0">
                            <a:latin typeface="Cambria Math"/>
                          </a:rPr>
                          <m:t>𝒙</m:t>
                        </m:r>
                        <m:r>
                          <a:rPr lang="en-GB" sz="5100" b="1" i="1" dirty="0" smtClean="0"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endParaRPr lang="en-GB" sz="5100" b="1" dirty="0" smtClean="0"/>
              </a:p>
              <a:p>
                <a:pPr marL="0" indent="0">
                  <a:buNone/>
                </a:pPr>
                <a:endParaRPr lang="en-GB" sz="5100" b="1" dirty="0" smtClean="0"/>
              </a:p>
              <a:p>
                <a:pPr marL="0" indent="0">
                  <a:buNone/>
                </a:pPr>
                <a:r>
                  <a:rPr lang="en-GB" sz="5100" b="1" dirty="0" smtClean="0"/>
                  <a:t>So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sz="51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5100" b="1" i="1" smtClean="0">
                            <a:latin typeface="Cambria Math"/>
                          </a:rPr>
                          <m:t>𝒚</m:t>
                        </m:r>
                      </m:num>
                      <m:den>
                        <m:r>
                          <a:rPr lang="en-GB" sz="5100" b="1" i="1" smtClean="0">
                            <a:latin typeface="Cambria Math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GB" sz="5100" b="1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sz="5100" b="1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5100" b="1" i="1" dirty="0" smtClean="0">
                            <a:latin typeface="Cambria Math"/>
                          </a:rPr>
                          <m:t>𝒚</m:t>
                        </m:r>
                        <m:r>
                          <a:rPr lang="en-GB" sz="5100" b="1" i="1" dirty="0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5100" b="1" i="1" dirty="0" smtClean="0">
                            <a:latin typeface="Cambria Math"/>
                          </a:rPr>
                          <m:t>𝒙</m:t>
                        </m:r>
                        <m:r>
                          <a:rPr lang="en-GB" sz="5100" b="1" i="1" dirty="0" smtClean="0"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endParaRPr lang="en-GB" sz="5100" b="1" dirty="0" smtClean="0"/>
              </a:p>
              <a:p>
                <a:pPr marL="0" indent="0">
                  <a:buNone/>
                </a:pPr>
                <a:r>
                  <a:rPr lang="en-GB" sz="5100" b="1" dirty="0" smtClean="0"/>
                  <a:t>12litres → 180km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??litres → 300km </a:t>
                </a:r>
                <a:endParaRPr lang="en-GB" sz="5100" b="1" dirty="0" smtClean="0"/>
              </a:p>
              <a:p>
                <a:pPr marL="0" indent="0">
                  <a:buNone/>
                </a:pPr>
                <a:r>
                  <a:rPr lang="en-GB" sz="5100" b="1" dirty="0" smtClean="0"/>
                  <a:t>                                                           then   </a:t>
                </a:r>
                <a14:m>
                  <m:oMath xmlns:m="http://schemas.openxmlformats.org/officeDocument/2006/math">
                    <m:r>
                      <a:rPr lang="en-GB" sz="5100" b="1" i="0" dirty="0" smtClean="0">
                        <a:latin typeface="Cambria Math"/>
                      </a:rPr>
                      <m:t>        </m:t>
                    </m:r>
                    <m:r>
                      <a:rPr lang="en-GB" sz="5100" b="1" i="1" dirty="0" smtClean="0">
                        <a:latin typeface="Cambria Math"/>
                      </a:rPr>
                      <m:t>𝟏𝟐</m:t>
                    </m:r>
                    <m:r>
                      <a:rPr lang="en-GB" sz="5100" b="1" i="1" dirty="0" smtClean="0">
                        <a:latin typeface="Cambria Math"/>
                      </a:rPr>
                      <m:t>/</m:t>
                    </m:r>
                    <m:r>
                      <a:rPr lang="en-GB" sz="5100" b="1" i="1" dirty="0" smtClean="0">
                        <a:latin typeface="Cambria Math"/>
                      </a:rPr>
                      <m:t>𝟏𝟖𝟎</m:t>
                    </m:r>
                  </m:oMath>
                </a14:m>
                <a:r>
                  <a:rPr lang="en-GB" sz="5100" b="1" dirty="0" smtClean="0"/>
                  <a:t> </a:t>
                </a:r>
                <a:r>
                  <a:rPr lang="en-GB" sz="5100" b="1" dirty="0" smtClean="0"/>
                  <a:t> =  y1 /300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   using y=12l, x=10km                                        y1  =  12×300 /180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              </a:t>
                </a:r>
                <a:r>
                  <a:rPr lang="en-GB" sz="5100" b="1" dirty="0" smtClean="0"/>
                  <a:t>y1= ??, x1= 300km                                              y1 =20 litres</a:t>
                </a:r>
              </a:p>
              <a:p>
                <a:pPr marL="0" indent="0">
                  <a:buNone/>
                </a:pPr>
                <a:r>
                  <a:rPr lang="en-GB" sz="5100" b="1" dirty="0" smtClean="0"/>
                  <a:t>So therefore 20 litres are needed to travel 300 km.</a:t>
                </a:r>
                <a:endParaRPr lang="en-GB" sz="51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256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45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err="1" smtClean="0"/>
              <a:t>Qn</a:t>
            </a:r>
            <a:r>
              <a:rPr lang="en-GB" sz="3600" dirty="0" smtClean="0"/>
              <a:t> 2.</a:t>
            </a:r>
            <a:r>
              <a:rPr lang="en-GB" sz="3600" dirty="0"/>
              <a:t> </a:t>
            </a:r>
            <a:r>
              <a:rPr lang="en-GB" sz="3600" dirty="0">
                <a:latin typeface="Arial Black" pitchFamily="34" charset="0"/>
              </a:rPr>
              <a:t>If 5 kilograms of rice cost </a:t>
            </a:r>
            <a:r>
              <a:rPr lang="en-GB" sz="3600" dirty="0" err="1">
                <a:latin typeface="Arial Black" pitchFamily="34" charset="0"/>
              </a:rPr>
              <a:t>UgX</a:t>
            </a:r>
            <a:r>
              <a:rPr lang="en-GB" sz="3600" dirty="0">
                <a:latin typeface="Arial Black" pitchFamily="34" charset="0"/>
              </a:rPr>
              <a:t> 22,500 how much will8kg cost?</a:t>
            </a:r>
            <a:r>
              <a:rPr lang="en-GB" dirty="0">
                <a:latin typeface="Arial Black" pitchFamily="34" charset="0"/>
              </a:rPr>
              <a:t/>
            </a:r>
            <a:br>
              <a:rPr lang="en-GB" dirty="0">
                <a:latin typeface="Arial Black" pitchFamily="34" charset="0"/>
              </a:rPr>
            </a:br>
            <a:endParaRPr lang="en-US" dirty="0">
              <a:latin typeface="Arial Black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800" dirty="0" smtClean="0"/>
                  <a:t>Let </a:t>
                </a:r>
                <a:r>
                  <a:rPr lang="en-GB" sz="2800" b="1" dirty="0" smtClean="0"/>
                  <a:t>let y represent kilograms of rice and x represent cost.</a:t>
                </a:r>
              </a:p>
              <a:p>
                <a:pPr marL="0" indent="0">
                  <a:buNone/>
                </a:pPr>
                <a:r>
                  <a:rPr lang="en-GB" sz="2800" dirty="0" smtClean="0"/>
                  <a:t>Remember for direct proportion </a:t>
                </a:r>
                <a:r>
                  <a:rPr lang="en-GB" sz="2800" b="1" dirty="0" smtClean="0"/>
                  <a:t>k = y/x </a:t>
                </a:r>
                <a:r>
                  <a:rPr lang="en-GB" sz="2800" b="1" dirty="0"/>
                  <a:t>=</a:t>
                </a:r>
                <a:r>
                  <a:rPr lang="en-GB" sz="2800" b="1" dirty="0" smtClean="0"/>
                  <a:t> y1/x1 given y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en-GB" sz="2800" b="1" i="1" smtClean="0">
                        <a:latin typeface="Cambria Math"/>
                        <a:ea typeface="Cambria Math"/>
                      </a:rPr>
                      <m:t>𝒙</m:t>
                    </m:r>
                  </m:oMath>
                </a14:m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dirty="0" smtClean="0"/>
                  <a:t>Therefore let </a:t>
                </a:r>
                <a:r>
                  <a:rPr lang="en-GB" sz="2800" b="1" dirty="0" smtClean="0"/>
                  <a:t>y= 5kg, x=ugx22,500 and y1= 8kg, x1= ??</a:t>
                </a:r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</a:t>
                </a:r>
                <a:r>
                  <a:rPr lang="en-GB" sz="2800" b="1" dirty="0" smtClean="0"/>
                  <a:t>y/x  </a:t>
                </a:r>
                <a:r>
                  <a:rPr lang="en-GB" sz="2800" b="1" dirty="0" smtClean="0"/>
                  <a:t>= </a:t>
                </a:r>
                <a:r>
                  <a:rPr lang="en-GB" sz="2800" b="1" dirty="0" smtClean="0"/>
                  <a:t> y1/x1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</a:t>
                </a:r>
                <a:r>
                  <a:rPr lang="en-GB" sz="2800" b="1" dirty="0" smtClean="0"/>
                  <a:t>5/ 22,500  =  8 / x1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x1= </a:t>
                </a:r>
                <a:r>
                  <a:rPr lang="en-GB" sz="2800" b="1" dirty="0" smtClean="0"/>
                  <a:t>  8×22500 /5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x1= </a:t>
                </a:r>
                <a:r>
                  <a:rPr lang="en-GB" sz="2800" b="1" dirty="0" err="1" smtClean="0"/>
                  <a:t>ugx</a:t>
                </a:r>
                <a:r>
                  <a:rPr lang="en-GB" sz="2800" b="1" dirty="0" smtClean="0"/>
                  <a:t> 36,000</a:t>
                </a:r>
                <a:r>
                  <a:rPr lang="en-US" sz="2800" dirty="0" smtClean="0"/>
                  <a:t> </a:t>
                </a:r>
              </a:p>
              <a:p>
                <a:pPr marL="0" indent="0">
                  <a:buNone/>
                </a:pPr>
                <a:r>
                  <a:rPr lang="en-GB" sz="2800" b="1" dirty="0" smtClean="0"/>
                  <a:t>Therefore 8kg cost </a:t>
                </a:r>
                <a:r>
                  <a:rPr lang="en-GB" sz="2800" b="1" dirty="0" err="1" smtClean="0"/>
                  <a:t>ugx</a:t>
                </a:r>
                <a:r>
                  <a:rPr lang="en-GB" sz="2800" b="1" dirty="0" smtClean="0"/>
                  <a:t> 36,000</a:t>
                </a:r>
              </a:p>
            </p:txBody>
          </p:sp>
        </mc:Choice>
        <mc:Fallback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213" r="-593" b="-13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79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 smtClean="0"/>
              <a:t/>
            </a:r>
            <a:br>
              <a:rPr lang="en-GB" sz="3200" dirty="0" smtClean="0"/>
            </a:br>
            <a:r>
              <a:rPr lang="en-GB" sz="3200" dirty="0" err="1" smtClean="0"/>
              <a:t>Qn</a:t>
            </a:r>
            <a:r>
              <a:rPr lang="en-GB" sz="3200" dirty="0" smtClean="0"/>
              <a:t> 3 </a:t>
            </a:r>
            <a:r>
              <a:rPr lang="en-GB" sz="2800" b="1" dirty="0"/>
              <a:t>A packaging machine wraps 210 boxes in 6 minutes, how many boxes will it wrap in 15minutes at the same speed.</a:t>
            </a:r>
            <a:br>
              <a:rPr lang="en-GB" sz="2800" b="1" dirty="0"/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 smtClean="0"/>
                  <a:t>Let </a:t>
                </a:r>
                <a:r>
                  <a:rPr lang="en-GB" sz="2400" b="1" dirty="0" smtClean="0"/>
                  <a:t>y represent no. of boxes and x represent </a:t>
                </a:r>
                <a:r>
                  <a:rPr lang="en-GB" sz="2400" b="1" dirty="0" smtClean="0"/>
                  <a:t>minutes</a:t>
                </a:r>
              </a:p>
              <a:p>
                <a:pPr marL="0" indent="0">
                  <a:buNone/>
                </a:pPr>
                <a:r>
                  <a:rPr lang="en-GB" sz="2800" dirty="0" smtClean="0"/>
                  <a:t>Remember  </a:t>
                </a:r>
                <a:r>
                  <a:rPr lang="en-GB" sz="2800" b="1" dirty="0" smtClean="0"/>
                  <a:t>k= y/x  =</a:t>
                </a:r>
                <a:r>
                  <a:rPr lang="en-GB" sz="2800" b="1" dirty="0" smtClean="0"/>
                  <a:t>y1/x1    if y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en-GB" sz="2800" b="1" i="1" smtClean="0">
                        <a:latin typeface="Cambria Math"/>
                        <a:ea typeface="Cambria Math"/>
                      </a:rPr>
                      <m:t>𝒙</m:t>
                    </m:r>
                  </m:oMath>
                </a14:m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let y= 210boxes, x=6mins, y1=??,x1= 15mins</a:t>
                </a:r>
              </a:p>
              <a:p>
                <a:pPr marL="0" indent="0">
                  <a:buNone/>
                </a:pPr>
                <a:r>
                  <a:rPr lang="en-GB" sz="2800" b="1" dirty="0" smtClean="0"/>
                  <a:t>T</a:t>
                </a:r>
                <a:r>
                  <a:rPr lang="en-GB" sz="2800" dirty="0" smtClean="0"/>
                  <a:t>herefore</a:t>
                </a:r>
                <a:r>
                  <a:rPr lang="en-GB" sz="2800" b="1" dirty="0" smtClean="0"/>
                  <a:t>: 210/6  = y1/15</a:t>
                </a:r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y1  =  210×15/6</a:t>
                </a:r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y1  =525boxes</a:t>
                </a:r>
              </a:p>
              <a:p>
                <a:pPr marL="0" indent="0">
                  <a:buNone/>
                </a:pPr>
                <a:r>
                  <a:rPr lang="en-GB" sz="2800" dirty="0" smtClean="0"/>
                  <a:t>Therefore the machine will wrap 525 boxes in 15 minutes</a:t>
                </a:r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50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Indirect proportion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 </a:t>
            </a:r>
            <a:r>
              <a:rPr lang="en-US" b="1" dirty="0"/>
              <a:t>Indirect proportion (also called inverse proportion) is a relationship between two quantities where when one quantity increases, the other decreases, and vice versa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Consider two items y and x where y is indirectly proportional to x</a:t>
            </a:r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Therefore we state y </a:t>
            </a:r>
            <a:r>
              <a:rPr lang="el-GR" sz="2800" dirty="0" smtClean="0">
                <a:latin typeface="+mj-lt"/>
              </a:rPr>
              <a:t>α</a:t>
            </a:r>
            <a:r>
              <a:rPr lang="en-GB" sz="2800" dirty="0" smtClean="0">
                <a:latin typeface="+mj-lt"/>
              </a:rPr>
              <a:t> 1/x    </a:t>
            </a:r>
            <a:r>
              <a:rPr lang="en-GB" sz="2800" b="1" dirty="0" smtClean="0"/>
              <a:t>removing the proportionality sign it becomes</a:t>
            </a:r>
            <a:r>
              <a:rPr lang="en-GB" sz="2800" dirty="0" smtClean="0">
                <a:latin typeface="+mj-lt"/>
              </a:rPr>
              <a:t>     y  =   k(1/x)</a:t>
            </a: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y  = k/x</a:t>
            </a: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 k = </a:t>
            </a:r>
            <a:r>
              <a:rPr lang="en-GB" sz="2800" dirty="0" err="1" smtClean="0">
                <a:latin typeface="+mj-lt"/>
              </a:rPr>
              <a:t>xy</a:t>
            </a:r>
            <a:r>
              <a:rPr lang="en-GB" sz="2800" dirty="0" smtClean="0">
                <a:latin typeface="+mj-lt"/>
              </a:rPr>
              <a:t>  = x1y1</a:t>
            </a:r>
            <a:endParaRPr lang="en-US" sz="2800" dirty="0" smtClean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3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100" dirty="0" smtClean="0"/>
              <a:t/>
            </a:r>
            <a:br>
              <a:rPr lang="en-GB" sz="3100" dirty="0" smtClean="0"/>
            </a:br>
            <a:r>
              <a:rPr lang="en-GB" sz="3100" dirty="0"/>
              <a:t/>
            </a:r>
            <a:br>
              <a:rPr lang="en-GB" sz="3100" dirty="0"/>
            </a:br>
            <a:r>
              <a:rPr lang="en-GB" sz="2200" dirty="0" err="1" smtClean="0"/>
              <a:t>Qn</a:t>
            </a:r>
            <a:r>
              <a:rPr lang="en-GB" sz="2200" dirty="0" smtClean="0"/>
              <a:t> 1</a:t>
            </a:r>
            <a:r>
              <a:rPr lang="en-GB" sz="3100" dirty="0" smtClean="0"/>
              <a:t>. </a:t>
            </a:r>
            <a:r>
              <a:rPr lang="en-GB" sz="3100" b="1" dirty="0" smtClean="0"/>
              <a:t>It </a:t>
            </a:r>
            <a:r>
              <a:rPr lang="en-GB" sz="3100" b="1" dirty="0"/>
              <a:t>takes 8 builders exactly 6 days to paint a school building . How many days would it take 12 builders at the same pace?</a:t>
            </a:r>
            <a:br>
              <a:rPr lang="en-GB" sz="3100" b="1" dirty="0"/>
            </a:b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</a:t>
            </a:r>
            <a:r>
              <a:rPr lang="en-GB" sz="2400" dirty="0" smtClean="0"/>
              <a:t>Remember  </a:t>
            </a:r>
            <a:r>
              <a:rPr lang="en-GB" sz="2400" b="1" dirty="0" smtClean="0"/>
              <a:t> </a:t>
            </a:r>
            <a:r>
              <a:rPr lang="en-GB" sz="2400" b="1" dirty="0" smtClean="0"/>
              <a:t>k = </a:t>
            </a:r>
            <a:r>
              <a:rPr lang="en-GB" sz="2400" b="1" dirty="0" err="1" smtClean="0"/>
              <a:t>xy</a:t>
            </a:r>
            <a:r>
              <a:rPr lang="en-GB" sz="2400" b="1" dirty="0" smtClean="0"/>
              <a:t>  = </a:t>
            </a:r>
            <a:r>
              <a:rPr lang="en-GB" sz="2400" b="1" dirty="0" smtClean="0"/>
              <a:t>x1y1   </a:t>
            </a:r>
            <a:r>
              <a:rPr lang="en-GB" sz="2400" b="1" dirty="0" smtClean="0"/>
              <a:t>if we are doing the same thing( painting a building) at the same pace but different no. of builders.</a:t>
            </a:r>
          </a:p>
          <a:p>
            <a:pPr marL="0" indent="0">
              <a:buNone/>
            </a:pPr>
            <a:r>
              <a:rPr lang="en-GB" sz="2400" b="1" dirty="0" smtClean="0"/>
              <a:t>Let y =8 builders, x= 6days and y1=12builders, x1=??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6×8 = 12×x1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x1   = 6×8/12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x1   =4 days </a:t>
            </a:r>
          </a:p>
        </p:txBody>
      </p:sp>
    </p:spTree>
    <p:extLst>
      <p:ext uri="{BB962C8B-B14F-4D97-AF65-F5344CB8AC3E}">
        <p14:creationId xmlns:p14="http://schemas.microsoft.com/office/powerpoint/2010/main" val="196933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 smtClean="0"/>
              <a:t/>
            </a:r>
            <a:br>
              <a:rPr lang="en-GB" sz="3200" dirty="0" smtClean="0"/>
            </a:br>
            <a:r>
              <a:rPr lang="en-GB" sz="2400" dirty="0" smtClean="0"/>
              <a:t>Qn.2</a:t>
            </a:r>
            <a:r>
              <a:rPr lang="en-GB" sz="3200" dirty="0" smtClean="0"/>
              <a:t> </a:t>
            </a:r>
            <a:r>
              <a:rPr lang="en-GB" sz="2800" b="1" dirty="0"/>
              <a:t>A delivery track travels 60km/</a:t>
            </a:r>
            <a:r>
              <a:rPr lang="en-GB" sz="2800" b="1" dirty="0" err="1"/>
              <a:t>hr</a:t>
            </a:r>
            <a:r>
              <a:rPr lang="en-GB" sz="2800" b="1" dirty="0"/>
              <a:t> and takes 3 hours. How long will it take at 90km/</a:t>
            </a:r>
            <a:r>
              <a:rPr lang="en-GB" sz="2800" b="1" dirty="0" err="1"/>
              <a:t>hr</a:t>
            </a:r>
            <a:r>
              <a:rPr lang="en-GB" sz="2800" b="1" dirty="0"/>
              <a:t>?</a:t>
            </a:r>
            <a:r>
              <a:rPr lang="en-US" sz="2800" b="1" dirty="0"/>
              <a:t/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 smtClean="0"/>
                  <a:t>y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/>
                        <a:ea typeface="Cambria Math"/>
                      </a:rPr>
                      <m:t>∝</m:t>
                    </m:r>
                    <m:r>
                      <a:rPr lang="en-GB" b="0" i="1" smtClean="0">
                        <a:latin typeface="Cambria Math"/>
                        <a:ea typeface="Cambria Math"/>
                      </a:rPr>
                      <m:t>𝑥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GB" dirty="0" smtClean="0"/>
                  <a:t>using</a:t>
                </a:r>
                <a:r>
                  <a:rPr lang="en-GB" b="1" dirty="0" smtClean="0"/>
                  <a:t> </a:t>
                </a:r>
                <a:r>
                  <a:rPr lang="en-GB" b="1" dirty="0" err="1" smtClean="0"/>
                  <a:t>xy</a:t>
                </a:r>
                <a:r>
                  <a:rPr lang="en-GB" b="1" dirty="0" smtClean="0"/>
                  <a:t> </a:t>
                </a:r>
                <a:r>
                  <a:rPr lang="en-GB" b="1" dirty="0" smtClean="0"/>
                  <a:t>= x1y1 =k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 smtClean="0"/>
                  <a:t>  </a:t>
                </a:r>
                <a:r>
                  <a:rPr lang="en-GB" dirty="0" smtClean="0"/>
                  <a:t>where</a:t>
                </a:r>
                <a:r>
                  <a:rPr lang="en-GB" b="1" dirty="0" smtClean="0"/>
                  <a:t> y=</a:t>
                </a:r>
                <a:r>
                  <a:rPr lang="en-GB" dirty="0" smtClean="0"/>
                  <a:t>60km/</a:t>
                </a:r>
                <a:r>
                  <a:rPr lang="en-GB" dirty="0" err="1" smtClean="0"/>
                  <a:t>hr</a:t>
                </a:r>
                <a:r>
                  <a:rPr lang="en-GB" b="1" dirty="0" smtClean="0"/>
                  <a:t>, x=</a:t>
                </a:r>
                <a:r>
                  <a:rPr lang="en-GB" dirty="0" smtClean="0"/>
                  <a:t>3hr</a:t>
                </a:r>
                <a:r>
                  <a:rPr lang="en-GB" b="1" dirty="0" smtClean="0"/>
                  <a:t>s, x1=??, y1= </a:t>
                </a:r>
                <a:r>
                  <a:rPr lang="en-GB" dirty="0" smtClean="0"/>
                  <a:t>90km/</a:t>
                </a:r>
                <a:r>
                  <a:rPr lang="en-GB" dirty="0" err="1" smtClean="0"/>
                  <a:t>hr</a:t>
                </a:r>
                <a:endParaRPr lang="en-GB" dirty="0" smtClean="0"/>
              </a:p>
              <a:p>
                <a:pPr marL="0" indent="0">
                  <a:buNone/>
                </a:pPr>
                <a:r>
                  <a:rPr lang="en-GB" b="1" dirty="0"/>
                  <a:t> </a:t>
                </a:r>
                <a:r>
                  <a:rPr lang="en-GB" b="1" dirty="0" smtClean="0"/>
                  <a:t>        3×60 = </a:t>
                </a:r>
                <a:r>
                  <a:rPr lang="en-GB" b="1" dirty="0" smtClean="0"/>
                  <a:t>90 × x1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/>
                  <a:t> </a:t>
                </a:r>
                <a:r>
                  <a:rPr lang="en-GB" b="1" dirty="0" smtClean="0"/>
                  <a:t>           x1 =</a:t>
                </a:r>
                <a:r>
                  <a:rPr lang="en-GB" b="1" dirty="0" smtClean="0"/>
                  <a:t>3 × 60/90</a:t>
                </a:r>
                <a:endParaRPr lang="en-GB" b="1" dirty="0"/>
              </a:p>
              <a:p>
                <a:pPr marL="0" indent="0">
                  <a:buNone/>
                </a:pPr>
                <a:r>
                  <a:rPr lang="en-GB" b="1" dirty="0" smtClean="0"/>
                  <a:t>           x1= 2hours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617" r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87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/>
            </a:r>
            <a:br>
              <a:rPr lang="en-GB" sz="2400" dirty="0" smtClean="0"/>
            </a:br>
            <a:r>
              <a:rPr lang="en-GB" sz="2400" dirty="0" smtClean="0"/>
              <a:t>Qn.3 </a:t>
            </a:r>
            <a:r>
              <a:rPr lang="en-GB" sz="2400" b="1" dirty="0"/>
              <a:t>A poultry farmer has enough feed for 200 chicken for 15 days. After selling some birds 150 chicken remain, How many days will the feed last</a:t>
            </a:r>
            <a:r>
              <a:rPr lang="en-GB" sz="2400" dirty="0"/>
              <a:t>.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Using </a:t>
            </a:r>
            <a:r>
              <a:rPr lang="en-GB" sz="2400" b="1" dirty="0" err="1" smtClean="0"/>
              <a:t>xy</a:t>
            </a:r>
            <a:r>
              <a:rPr lang="en-GB" sz="2400" b="1" dirty="0"/>
              <a:t> </a:t>
            </a:r>
            <a:r>
              <a:rPr lang="en-GB" sz="2400" b="1" dirty="0" smtClean="0"/>
              <a:t>= x1y1    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 smtClean="0"/>
              <a:t>where </a:t>
            </a:r>
            <a:r>
              <a:rPr lang="en-GB" sz="2400" b="1" dirty="0" smtClean="0"/>
              <a:t>y=200chicken, x=15days, y1=150 chicken, x1=??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15×200 = 150×x1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x1=  15×200/150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 x1= 20days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44566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RATIOS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b="1" dirty="0" smtClean="0"/>
              <a:t>REMEMBER: </a:t>
            </a:r>
            <a:r>
              <a:rPr lang="en-GB" sz="2400" dirty="0" smtClean="0"/>
              <a:t>a ratio is a mathematical comparison between two or more quantities to show how one much one is, compared to the other.</a:t>
            </a:r>
          </a:p>
          <a:p>
            <a:pPr marL="0" indent="0">
              <a:buNone/>
            </a:pPr>
            <a:r>
              <a:rPr lang="en-GB" sz="2400" b="1" dirty="0" smtClean="0"/>
              <a:t>For example the ratio of boys and girls in a class of 120 students is 1:2   this means that in this class 1/3 of 120 students are boys and 2/3 of the 120 are boys.</a:t>
            </a:r>
          </a:p>
          <a:p>
            <a:pPr marL="0" indent="0">
              <a:buNone/>
            </a:pPr>
            <a:r>
              <a:rPr lang="en-GB" sz="2400" b="1" dirty="0" smtClean="0"/>
              <a:t>Qn1. two </a:t>
            </a:r>
            <a:r>
              <a:rPr lang="en-GB" sz="2400" b="1" dirty="0" smtClean="0"/>
              <a:t>business partners </a:t>
            </a:r>
            <a:r>
              <a:rPr lang="en-GB" sz="2400" b="1" dirty="0" err="1" smtClean="0"/>
              <a:t>sarah</a:t>
            </a:r>
            <a:r>
              <a:rPr lang="en-GB" sz="2400" b="1" dirty="0" smtClean="0"/>
              <a:t> and john, split monthly profits in the ratio of 3:2. total profit= </a:t>
            </a:r>
            <a:r>
              <a:rPr lang="en-GB" sz="2400" b="1" dirty="0" err="1" smtClean="0"/>
              <a:t>ugx</a:t>
            </a:r>
            <a:r>
              <a:rPr lang="en-GB" sz="2400" b="1" dirty="0" smtClean="0"/>
              <a:t> 1,500,000. how much does </a:t>
            </a:r>
            <a:r>
              <a:rPr lang="en-GB" sz="2400" b="1" dirty="0" err="1" smtClean="0"/>
              <a:t>sarah</a:t>
            </a:r>
            <a:r>
              <a:rPr lang="en-GB" sz="2400" b="1" dirty="0" smtClean="0"/>
              <a:t> receive ?</a:t>
            </a:r>
          </a:p>
          <a:p>
            <a:pPr marL="0" indent="0">
              <a:buNone/>
            </a:pPr>
            <a:r>
              <a:rPr lang="en-GB" sz="2400" b="1" dirty="0" smtClean="0"/>
              <a:t>Total ratio = 3+2 =5</a:t>
            </a:r>
          </a:p>
          <a:p>
            <a:pPr marL="0" indent="0">
              <a:buNone/>
            </a:pPr>
            <a:r>
              <a:rPr lang="en-GB" sz="2400" b="1" dirty="0" smtClean="0"/>
              <a:t>So </a:t>
            </a:r>
            <a:r>
              <a:rPr lang="en-GB" sz="2400" b="1" dirty="0" err="1" smtClean="0"/>
              <a:t>sarah</a:t>
            </a:r>
            <a:r>
              <a:rPr lang="en-GB" sz="2400" b="1" dirty="0" smtClean="0"/>
              <a:t> gets 3/5 of the total profit and John gets 2/5 of the total profit</a:t>
            </a:r>
          </a:p>
          <a:p>
            <a:pPr marL="0" indent="0">
              <a:buNone/>
            </a:pPr>
            <a:r>
              <a:rPr lang="en-GB" sz="2400" b="1" dirty="0" smtClean="0"/>
              <a:t>This means for </a:t>
            </a:r>
            <a:r>
              <a:rPr lang="en-GB" sz="2400" b="1" dirty="0" err="1" smtClean="0"/>
              <a:t>sarah</a:t>
            </a:r>
            <a:r>
              <a:rPr lang="en-GB" sz="2400" b="1" dirty="0" smtClean="0"/>
              <a:t> =3/5  × 1,500,000</a:t>
            </a: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                             = </a:t>
            </a:r>
            <a:r>
              <a:rPr lang="en-GB" sz="2400" b="1" dirty="0" err="1" smtClean="0"/>
              <a:t>ugx</a:t>
            </a:r>
            <a:r>
              <a:rPr lang="en-GB" sz="2400" b="1" dirty="0" smtClean="0"/>
              <a:t> 900,00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575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Qn1. two business partners </a:t>
            </a:r>
            <a:r>
              <a:rPr lang="en-GB" b="1" dirty="0" err="1"/>
              <a:t>sarah</a:t>
            </a:r>
            <a:r>
              <a:rPr lang="en-GB" b="1" dirty="0"/>
              <a:t> and john, split monthly profits in the ratio of 3:2. total profit= </a:t>
            </a:r>
            <a:r>
              <a:rPr lang="en-GB" b="1" dirty="0" err="1"/>
              <a:t>ugx</a:t>
            </a:r>
            <a:r>
              <a:rPr lang="en-GB" b="1" dirty="0"/>
              <a:t> 1,500,000. how much does </a:t>
            </a:r>
            <a:r>
              <a:rPr lang="en-GB" b="1" dirty="0" err="1"/>
              <a:t>sarah</a:t>
            </a:r>
            <a:r>
              <a:rPr lang="en-GB" b="1" dirty="0"/>
              <a:t> receive ?</a:t>
            </a:r>
          </a:p>
          <a:p>
            <a:pPr marL="0" indent="0">
              <a:buNone/>
            </a:pPr>
            <a:r>
              <a:rPr lang="en-GB" dirty="0"/>
              <a:t>Total ratio </a:t>
            </a:r>
            <a:r>
              <a:rPr lang="en-GB" b="1" dirty="0"/>
              <a:t>= 3+2 =5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So </a:t>
            </a:r>
            <a:r>
              <a:rPr lang="en-GB" dirty="0" err="1"/>
              <a:t>sarah</a:t>
            </a:r>
            <a:r>
              <a:rPr lang="en-GB" dirty="0"/>
              <a:t> gets </a:t>
            </a:r>
            <a:r>
              <a:rPr lang="en-GB" b="1" dirty="0"/>
              <a:t>3/5 </a:t>
            </a:r>
            <a:r>
              <a:rPr lang="en-GB" dirty="0"/>
              <a:t>of the total profit </a:t>
            </a:r>
            <a:r>
              <a:rPr lang="en-GB" b="1" dirty="0"/>
              <a:t>and </a:t>
            </a:r>
            <a:r>
              <a:rPr lang="en-GB" dirty="0"/>
              <a:t>John gets </a:t>
            </a:r>
            <a:r>
              <a:rPr lang="en-GB" b="1" dirty="0"/>
              <a:t>2/5 </a:t>
            </a:r>
            <a:r>
              <a:rPr lang="en-GB" dirty="0"/>
              <a:t>of the total profit</a:t>
            </a:r>
          </a:p>
          <a:p>
            <a:pPr marL="0" indent="0">
              <a:buNone/>
            </a:pPr>
            <a:r>
              <a:rPr lang="en-GB" dirty="0"/>
              <a:t>This means </a:t>
            </a:r>
            <a:r>
              <a:rPr lang="en-GB" dirty="0" smtClean="0"/>
              <a:t>that </a:t>
            </a:r>
            <a:r>
              <a:rPr lang="en-GB" dirty="0" err="1"/>
              <a:t>sarah</a:t>
            </a:r>
            <a:r>
              <a:rPr lang="en-GB" dirty="0"/>
              <a:t> </a:t>
            </a:r>
            <a:r>
              <a:rPr lang="en-GB" b="1" dirty="0" smtClean="0"/>
              <a:t>=  3/5  </a:t>
            </a:r>
            <a:r>
              <a:rPr lang="en-GB" b="1" dirty="0"/>
              <a:t>× 1,500,000</a:t>
            </a:r>
          </a:p>
          <a:p>
            <a:pPr marL="0" indent="0">
              <a:buNone/>
            </a:pPr>
            <a:r>
              <a:rPr lang="en-GB" b="1" dirty="0"/>
              <a:t>                                       = </a:t>
            </a:r>
            <a:r>
              <a:rPr lang="en-GB" b="1" dirty="0" err="1"/>
              <a:t>ugx</a:t>
            </a:r>
            <a:r>
              <a:rPr lang="en-GB" b="1" dirty="0"/>
              <a:t> 900,00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8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/>
            </a:r>
            <a:br>
              <a:rPr lang="en-GB" sz="2400" dirty="0" smtClean="0"/>
            </a:b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 smtClean="0"/>
              <a:t>Qn2.</a:t>
            </a:r>
            <a:r>
              <a:rPr lang="en-GB" sz="2400" dirty="0">
                <a:latin typeface="Arial Black" pitchFamily="34" charset="0"/>
              </a:rPr>
              <a:t> Concrete I mixed using cement and sand in the ratio 1:4. if sand= 24kg, how much cement is needed?</a:t>
            </a:r>
            <a:br>
              <a:rPr lang="en-GB" sz="2400" dirty="0">
                <a:latin typeface="Arial Black" pitchFamily="34" charset="0"/>
              </a:rPr>
            </a:br>
            <a:r>
              <a:rPr lang="en-GB" sz="2400" dirty="0" smtClean="0"/>
              <a:t/>
            </a:r>
            <a:br>
              <a:rPr lang="en-GB" sz="2400" dirty="0" smtClean="0"/>
            </a:br>
            <a:endParaRPr lang="en-US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0" dirty="0" smtClean="0"/>
              <a:t>Method 1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Total </a:t>
            </a:r>
            <a:r>
              <a:rPr lang="en-GB" dirty="0" smtClean="0"/>
              <a:t>ratio</a:t>
            </a:r>
            <a:r>
              <a:rPr lang="en-GB" b="1" dirty="0" smtClean="0"/>
              <a:t>= 1+4= 5</a:t>
            </a:r>
          </a:p>
          <a:p>
            <a:pPr marL="0" indent="0">
              <a:buNone/>
            </a:pPr>
            <a:r>
              <a:rPr lang="en-GB" b="1" dirty="0" smtClean="0"/>
              <a:t>Cement= 1/5 and sand= 4/5</a:t>
            </a:r>
          </a:p>
          <a:p>
            <a:pPr marL="0" indent="0">
              <a:buNone/>
            </a:pPr>
            <a:r>
              <a:rPr lang="en-GB" b="1" dirty="0" smtClean="0"/>
              <a:t>Let the total weight of the mixture be x</a:t>
            </a:r>
          </a:p>
          <a:p>
            <a:pPr marL="0" indent="0">
              <a:buNone/>
            </a:pPr>
            <a:r>
              <a:rPr lang="en-GB" dirty="0" smtClean="0"/>
              <a:t>Therefore </a:t>
            </a:r>
            <a:r>
              <a:rPr lang="en-GB" b="1" dirty="0" smtClean="0"/>
              <a:t>sand= 4/5   ×  </a:t>
            </a:r>
            <a:r>
              <a:rPr lang="en-GB" sz="3200" b="1" dirty="0" smtClean="0"/>
              <a:t>x</a:t>
            </a:r>
            <a:r>
              <a:rPr lang="en-GB" b="1" dirty="0" smtClean="0"/>
              <a:t> </a:t>
            </a:r>
            <a:r>
              <a:rPr lang="en-GB" b="1" dirty="0" smtClean="0"/>
              <a:t>=24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                     x= 24×5/4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                     x= 30kgs</a:t>
            </a:r>
          </a:p>
          <a:p>
            <a:pPr marL="0" indent="0">
              <a:buNone/>
            </a:pPr>
            <a:r>
              <a:rPr lang="en-GB" dirty="0" smtClean="0"/>
              <a:t>For </a:t>
            </a:r>
            <a:r>
              <a:rPr lang="en-GB" b="1" dirty="0" smtClean="0"/>
              <a:t>cement  1/5   × 30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               = 6kg.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b="0" dirty="0" smtClean="0"/>
              <a:t>alternatively</a:t>
            </a:r>
            <a:endParaRPr lang="en-US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We compare the ratio give with the ratio of the </a:t>
            </a:r>
            <a:r>
              <a:rPr lang="en-GB" b="1" dirty="0" err="1" smtClean="0"/>
              <a:t>the</a:t>
            </a:r>
            <a:r>
              <a:rPr lang="en-GB" b="1" dirty="0" smtClean="0"/>
              <a:t> weights which must be the same,  cement  :   sand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1            :   4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 c            :   24</a:t>
            </a:r>
          </a:p>
          <a:p>
            <a:pPr marL="0" indent="0">
              <a:buNone/>
            </a:pPr>
            <a:r>
              <a:rPr lang="en-GB" b="1" dirty="0" smtClean="0"/>
              <a:t>c being the weight of cement</a:t>
            </a:r>
          </a:p>
          <a:p>
            <a:pPr marL="0" indent="0">
              <a:buNone/>
            </a:pPr>
            <a:r>
              <a:rPr lang="en-GB" b="1" dirty="0" smtClean="0"/>
              <a:t>Therefore;  ¼ = c/24  </a:t>
            </a:r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            c = 6kgs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2738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 smtClean="0"/>
              <a:t>Qn.3</a:t>
            </a:r>
            <a:r>
              <a:rPr lang="en-GB" sz="3200" dirty="0" smtClean="0"/>
              <a:t> </a:t>
            </a:r>
            <a:r>
              <a:rPr lang="en-GB" sz="2400" b="1" dirty="0"/>
              <a:t>A school field has width 800m and length 1.2 km find the ratio of width to length in the simplest whole numbers. </a:t>
            </a:r>
            <a:br>
              <a:rPr lang="en-GB" sz="2400" b="1" dirty="0"/>
            </a:br>
            <a:endParaRPr lang="en-US" sz="2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A school field has width 800m and length 1.2 km find the ratio of width to length in the simplest whole numbers. </a:t>
            </a:r>
          </a:p>
          <a:p>
            <a:r>
              <a:rPr lang="en-US" b="1" dirty="0" smtClean="0"/>
              <a:t>Convert 1.2 km to meters</a:t>
            </a:r>
          </a:p>
          <a:p>
            <a:pPr marL="457200" lvl="1" indent="0">
              <a:buNone/>
            </a:pPr>
            <a:r>
              <a:rPr lang="en-US" b="1" dirty="0" smtClean="0"/>
              <a:t> 1km=1000m</a:t>
            </a:r>
          </a:p>
          <a:p>
            <a:pPr marL="457200" lvl="1" indent="0">
              <a:buNone/>
            </a:pPr>
            <a:r>
              <a:rPr lang="en-US" b="1" dirty="0" smtClean="0"/>
              <a:t> 1.2km=1.2×1000</a:t>
            </a:r>
          </a:p>
          <a:p>
            <a:pPr marL="457200" lvl="1" indent="0">
              <a:buNone/>
            </a:pPr>
            <a:r>
              <a:rPr lang="en-US" b="1" dirty="0" smtClean="0"/>
              <a:t>            =1200m</a:t>
            </a:r>
          </a:p>
          <a:p>
            <a:pPr marL="457200" lvl="1" indent="0">
              <a:buNone/>
            </a:pPr>
            <a:endParaRPr lang="en-US" b="1" dirty="0" smtClean="0"/>
          </a:p>
          <a:p>
            <a:r>
              <a:rPr lang="en-US" b="1" dirty="0" smtClean="0"/>
              <a:t>Find the ratio </a:t>
            </a:r>
          </a:p>
          <a:p>
            <a:pPr marL="457200" lvl="1" indent="0">
              <a:buNone/>
            </a:pPr>
            <a:r>
              <a:rPr lang="en-US" b="1" dirty="0" smtClean="0"/>
              <a:t>800:1200</a:t>
            </a:r>
          </a:p>
          <a:p>
            <a:pPr marL="457200" lvl="1" indent="0">
              <a:buNone/>
            </a:pPr>
            <a:r>
              <a:rPr lang="en-US" b="1" dirty="0" smtClean="0"/>
              <a:t>       2:3    (This is got by dividing the distances by 400)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2466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itchFamily="2" charset="2"/>
              <a:buChar char="v"/>
            </a:pPr>
            <a:r>
              <a:rPr lang="en-GB" dirty="0" smtClean="0"/>
              <a:t>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For proportions first find out whether you are dealing with direct or indirect and the start computing.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For ratios note they can be expressed as fractions.</a:t>
            </a:r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>
                <a:latin typeface="Bauhaus 93" pitchFamily="82" charset="0"/>
              </a:rPr>
              <a:t>                                  the end</a:t>
            </a:r>
            <a:endParaRPr lang="en-US" dirty="0">
              <a:latin typeface="Bauhaus 9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92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947</Words>
  <Application>Microsoft Office PowerPoint</Application>
  <PresentationFormat>On-screen Show (4:3)</PresentationFormat>
  <Paragraphs>110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COURSE UNIT: MATHS IST 1106 SEMESTER:1 LECTURER: BYANSI DAVID GROUP: D </vt:lpstr>
      <vt:lpstr>RATIOS AND PROPORTIONS</vt:lpstr>
      <vt:lpstr>Direct proportion</vt:lpstr>
      <vt:lpstr>Qn 1 solution</vt:lpstr>
      <vt:lpstr> Qn 2. If 5 kilograms of rice cost UgX 22,500 how much will8kg cost? </vt:lpstr>
      <vt:lpstr> Qn 3 A packaging machine wraps 210 boxes in 6 minutes, how many boxes will it wrap in 15minutes at the same speed. </vt:lpstr>
      <vt:lpstr>Indirect proportion</vt:lpstr>
      <vt:lpstr>  Qn 1. It takes 8 builders exactly 6 days to paint a school building . How many days would it take 12 builders at the same pace?  </vt:lpstr>
      <vt:lpstr> Qn.2 A delivery track travels 60km/hr and takes 3 hours. How long will it take at 90km/hr? </vt:lpstr>
      <vt:lpstr> Qn.3 A poultry farmer has enough feed for 200 chicken for 15 days. After selling some birds 150 chicken remain, How many days will the feed last. </vt:lpstr>
      <vt:lpstr>RATIOS</vt:lpstr>
      <vt:lpstr>PowerPoint Presentation</vt:lpstr>
      <vt:lpstr>  Qn2. Concrete I mixed using cement and sand in the ratio 1:4. if sand= 24kg, how much cement is needed?  </vt:lpstr>
      <vt:lpstr>Qn.3 A school field has width 800m and length 1.2 km find the ratio of width to length in the simplest whole numbers.  </vt:lpstr>
      <vt:lpstr>note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36</cp:revision>
  <dcterms:created xsi:type="dcterms:W3CDTF">2026-08-30T10:13:27Z</dcterms:created>
  <dcterms:modified xsi:type="dcterms:W3CDTF">2026-08-30T19:33:48Z</dcterms:modified>
</cp:coreProperties>
</file>