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3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205" y="639445"/>
            <a:ext cx="10942955" cy="1640205"/>
          </a:xfrm>
        </p:spPr>
        <p:txBody>
          <a:bodyPr>
            <a:normAutofit fontScale="90000"/>
          </a:bodyPr>
          <a:p>
            <a:r>
              <a:rPr lang="en-US" altLang="en-GB" sz="2220" b="1"/>
              <a:t>GROUP WORK ASSIGNMENT FOR COMMUNICATION SKILLS BY GROUP 1</a:t>
            </a:r>
            <a:br>
              <a:rPr lang="en-US" altLang="en-GB"/>
            </a:br>
            <a:r>
              <a:rPr lang="en-US" altLang="en-GB" sz="2000" b="1" dirty="0">
                <a:sym typeface="+mn-ea"/>
              </a:rPr>
              <a:t>COURSE UNIT: BIS 1104/UNV 1101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SEMESTER:1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LECTURER: KOMUGISHA LILIAN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YEAR: 1</a:t>
            </a:r>
            <a:endParaRPr lang="en-US" altLang="en-GB" sz="2000" b="1" dirty="0"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24840" y="2535555"/>
          <a:ext cx="10502265" cy="3693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755"/>
                <a:gridCol w="3500755"/>
                <a:gridCol w="3500755"/>
              </a:tblGrid>
              <a:tr h="527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NAME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REGESTRATION NO.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STUDENT NO:</a:t>
                      </a:r>
                      <a:endParaRPr lang="en-US" altLang="en-GB" sz="1500"/>
                    </a:p>
                  </a:txBody>
                  <a:tcPr/>
                </a:tc>
              </a:tr>
              <a:tr h="527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AINEBYONA VICTOR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26/U/04227/PSA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 dirty="0">
                          <a:sym typeface="+mn-ea"/>
                        </a:rPr>
                        <a:t>2600703692</a:t>
                      </a:r>
                      <a:endParaRPr lang="en-US" altLang="en-GB" sz="1500" dirty="0"/>
                    </a:p>
                    <a:p>
                      <a:pPr>
                        <a:buNone/>
                      </a:pPr>
                      <a:endParaRPr lang="en-US" altLang="en-GB" sz="1500" dirty="0"/>
                    </a:p>
                  </a:txBody>
                  <a:tcPr/>
                </a:tc>
              </a:tr>
              <a:tr h="527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ACHUDA FREDRICK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26/U/29544/PSA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2600729544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</a:tr>
              <a:tr h="527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AKAMPURIRA IAN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26/U/03698/PS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 dirty="0">
                          <a:sym typeface="+mn-ea"/>
                        </a:rPr>
                        <a:t>2600703698</a:t>
                      </a:r>
                      <a:endParaRPr lang="en-US" altLang="en-GB" sz="1500" dirty="0"/>
                    </a:p>
                    <a:p>
                      <a:pPr>
                        <a:buNone/>
                      </a:pPr>
                      <a:endParaRPr lang="en-US" altLang="en-GB" sz="1500" dirty="0"/>
                    </a:p>
                  </a:txBody>
                  <a:tcPr/>
                </a:tc>
              </a:tr>
              <a:tr h="527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ODOI VINCENT 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26/U/30208/PS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2600730208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</a:tr>
              <a:tr h="527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ABOKU GEORGE PHILIP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26/U/03678/PSA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2600703678</a:t>
                      </a:r>
                      <a:endParaRPr lang="en-US" altLang="en-GB" sz="1500"/>
                    </a:p>
                  </a:txBody>
                  <a:tcPr/>
                </a:tc>
              </a:tr>
              <a:tr h="527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WAMANGA SHAMIHA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26/U/04227/PS</a:t>
                      </a: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500"/>
                        <a:t>2600704227</a:t>
                      </a:r>
                      <a:endParaRPr lang="en-US" altLang="en-GB" sz="15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80795"/>
          </a:xfrm>
        </p:spPr>
        <p:txBody>
          <a:bodyPr>
            <a:normAutofit fontScale="90000"/>
          </a:bodyPr>
          <a:p>
            <a:pPr algn="ctr"/>
            <a:r>
              <a:rPr lang="en-US" altLang="en-GB" sz="4445">
                <a:latin typeface="Arial Black" panose="020B0A04020102020204" charset="0"/>
                <a:cs typeface="Arial Black" panose="020B0A04020102020204" charset="0"/>
              </a:rPr>
              <a:t>QUESTION 1:</a:t>
            </a:r>
            <a:br>
              <a:rPr lang="en-US" altLang="en-GB" sz="4445"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GB" sz="4445">
                <a:latin typeface="Arial Black" panose="020B0A04020102020204" charset="0"/>
                <a:cs typeface="Arial Black" panose="020B0A04020102020204" charset="0"/>
              </a:rPr>
              <a:t>Define Communication?</a:t>
            </a:r>
            <a:endParaRPr lang="en-US" altLang="en-GB" sz="4445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1295"/>
            <a:ext cx="10972800" cy="4656455"/>
          </a:xfrm>
        </p:spPr>
        <p:txBody>
          <a:bodyPr/>
          <a:p>
            <a:pPr marL="0" indent="0">
              <a:buNone/>
            </a:pPr>
            <a:r>
              <a:rPr lang="en-US" altLang="en-GB"/>
              <a:t>  </a:t>
            </a:r>
            <a:r>
              <a:rPr lang="en-US" altLang="en-GB" sz="4400"/>
              <a:t>Communication</a:t>
            </a:r>
            <a:r>
              <a:rPr lang="" altLang="en-US" sz="4400"/>
              <a:t> </a:t>
            </a:r>
            <a:r>
              <a:rPr lang="en-US" altLang="en-GB" sz="4400"/>
              <a:t>is the process of</a:t>
            </a:r>
            <a:r>
              <a:rPr lang="" altLang="en-US" sz="4400"/>
              <a:t> </a:t>
            </a:r>
            <a:r>
              <a:rPr lang="en-US" altLang="en-GB" sz="4400"/>
              <a:t>sending, receiving, and understanding information, ideas, thoughts, or feelings between people.</a:t>
            </a:r>
            <a:endParaRPr lang="en-US" altLang="en-GB" sz="4400"/>
          </a:p>
          <a:p>
            <a:pPr marL="0" indent="0">
              <a:buNone/>
            </a:pPr>
            <a:r>
              <a:rPr lang="en-US" altLang="en-GB" sz="4400"/>
              <a:t>In simple terms, communication is</a:t>
            </a:r>
            <a:r>
              <a:rPr lang="" altLang="en-US" sz="4400"/>
              <a:t> </a:t>
            </a:r>
            <a:r>
              <a:rPr lang="en-US" altLang="en-GB" sz="4400"/>
              <a:t>how people share information with one another.</a:t>
            </a:r>
            <a:endParaRPr lang="en-US" altLang="en-GB"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6000" b="1">
                <a:solidFill>
                  <a:schemeClr val="tx1"/>
                </a:solidFill>
              </a:rPr>
              <a:t>Examples of communication</a:t>
            </a:r>
            <a:endParaRPr lang="en-US" altLang="en-GB" sz="60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Speaking and listening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Writing and reading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Using gestures or facial expressions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Sending messages or emails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Using signs, pictures, or symbols</a:t>
            </a:r>
            <a:endParaRPr lang="en-US" altLang="en-GB"/>
          </a:p>
          <a:p>
            <a:r>
              <a:rPr lang="en-US" altLang="en-GB" b="1"/>
              <a:t>NOTE;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Key elements of communication are;   </a:t>
            </a:r>
            <a:r>
              <a:rPr lang="" altLang="en-US"/>
              <a:t> </a:t>
            </a:r>
            <a:r>
              <a:rPr lang="en-US"/>
              <a:t>the </a:t>
            </a:r>
            <a:r>
              <a:rPr lang="en-US" altLang="en-GB"/>
              <a:t>sender, message, medium/channel, receiver, and feedback.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478280"/>
          </a:xfrm>
        </p:spPr>
        <p:txBody>
          <a:bodyPr>
            <a:normAutofit fontScale="90000"/>
          </a:bodyPr>
          <a:p>
            <a:pPr algn="ctr"/>
            <a:r>
              <a:rPr lang="en-US" altLang="en-GB" sz="4445" b="1"/>
              <a:t>QUESTION 2:</a:t>
            </a:r>
            <a:br>
              <a:rPr lang="en-US" altLang="en-GB" sz="4445" b="1"/>
            </a:br>
            <a:r>
              <a:rPr lang="en-US" altLang="en-GB" sz="4445" b="1"/>
              <a:t>Explain the Different types of communication:</a:t>
            </a:r>
            <a:endParaRPr lang="en-US" altLang="en-GB" sz="4445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49195"/>
            <a:ext cx="10972800" cy="367855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/>
              <a:t>Verbal communication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Nonverbal communication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Written Communication</a:t>
            </a:r>
            <a:endParaRPr lang="en-US" altLang="en-GB"/>
          </a:p>
        </p:txBody>
      </p:sp>
      <p:sp>
        <p:nvSpPr>
          <p:cNvPr id="5" name="Text Box 4"/>
          <p:cNvSpPr txBox="1"/>
          <p:nvPr/>
        </p:nvSpPr>
        <p:spPr>
          <a:xfrm>
            <a:off x="7458075" y="26473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1625"/>
            <a:ext cx="10515600" cy="5875655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altLang="en-GB"/>
              <a:t> Communication can be divided into different types depending on how information is shared. The three common types are</a:t>
            </a:r>
            <a:r>
              <a:rPr lang="" altLang="en-US"/>
              <a:t> </a:t>
            </a:r>
            <a:r>
              <a:rPr lang="en-US" altLang="en-GB"/>
              <a:t>verbal, non-verbal, and written communication.</a:t>
            </a:r>
            <a:endParaRPr lang="en-US" altLang="en-GB"/>
          </a:p>
          <a:p>
            <a:pPr marL="0" indent="0">
              <a:buNone/>
            </a:pPr>
            <a:r>
              <a:rPr lang="en-US" altLang="en-GB" sz="4665" b="1"/>
              <a:t>1. Verbal Communication</a:t>
            </a:r>
            <a:endParaRPr lang="en-US" altLang="en-GB" sz="4665" b="1"/>
          </a:p>
          <a:p>
            <a:pPr marL="0" indent="0">
              <a:buNone/>
            </a:pPr>
            <a:r>
              <a:rPr lang="en-US" altLang="en-GB"/>
              <a:t>      Verbal communication</a:t>
            </a:r>
            <a:r>
              <a:rPr lang="" altLang="en-US"/>
              <a:t> </a:t>
            </a:r>
            <a:r>
              <a:rPr lang="en-US" altLang="en-GB"/>
              <a:t>is the use of</a:t>
            </a:r>
            <a:r>
              <a:rPr lang="" altLang="en-US"/>
              <a:t> </a:t>
            </a:r>
            <a:r>
              <a:rPr lang="en-US" altLang="en-GB"/>
              <a:t>spoken words to share information, ideas, thoughts, or feelings</a:t>
            </a:r>
            <a:r>
              <a:rPr lang="" altLang="en-US"/>
              <a:t> </a:t>
            </a:r>
            <a:r>
              <a:rPr lang="en-US" altLang="en-GB"/>
              <a:t>with another person or group.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It is commonly used in face-to-face conversations, meetings, interviews, speeches, and telephone calls.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 Examples:</a:t>
            </a:r>
            <a:endParaRPr lang="en-US" altLang="en-GB" b="1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Talking to a friend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Giving instructions to employees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Participating in a classroom discussion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Giving a speech or presentation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Talking on the telephone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Importance:</a:t>
            </a:r>
            <a:r>
              <a:rPr lang="" altLang="en-US"/>
              <a:t> </a:t>
            </a:r>
            <a:r>
              <a:rPr lang="en-US" altLang="en-GB"/>
              <a:t>Verbal communication allows people to communicate quickly and can provide immediate feedback through questions and responses.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0695"/>
            <a:ext cx="10515600" cy="5696585"/>
          </a:xfrm>
        </p:spPr>
        <p:txBody>
          <a:bodyPr>
            <a:normAutofit fontScale="50000"/>
          </a:bodyPr>
          <a:p>
            <a:pPr marL="0" indent="0" algn="ctr">
              <a:buNone/>
            </a:pPr>
            <a:r>
              <a:rPr lang="en-US" altLang="en-GB" sz="7200" b="1"/>
              <a:t>2. Non-Verbal Communication</a:t>
            </a:r>
            <a:endParaRPr lang="en-US" altLang="en-GB" sz="7200" b="1"/>
          </a:p>
          <a:p>
            <a:pPr marL="0" indent="0">
              <a:buNone/>
            </a:pPr>
            <a:r>
              <a:rPr lang="en-US" altLang="en-GB"/>
              <a:t>      Non-verbal communication</a:t>
            </a:r>
            <a:r>
              <a:rPr lang="" altLang="en-US"/>
              <a:t> </a:t>
            </a:r>
            <a:r>
              <a:rPr lang="en-US" altLang="en-GB"/>
              <a:t>is the process of communicating</a:t>
            </a:r>
            <a:r>
              <a:rPr lang="" altLang="en-US"/>
              <a:t> </a:t>
            </a:r>
            <a:r>
              <a:rPr lang="en-US" altLang="en-GB"/>
              <a:t>without using spoken or written words. It involves body movements, facial expressions, gestures, posture, eye contact, and tone of voice.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GB" b="1"/>
              <a:t>Examples:</a:t>
            </a:r>
            <a:endParaRPr lang="en-US" altLang="en-GB" b="1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Smiling to show happiness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Nodding to show agreement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Waving to greet someone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Maintaining eye contact to show attention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Crossing your arms to show discomfort or disagreement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Using facial expressions to show emotions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Importance:</a:t>
            </a:r>
            <a:r>
              <a:rPr lang="" altLang="en-US"/>
              <a:t> </a:t>
            </a:r>
            <a:r>
              <a:rPr lang="en-US" altLang="en-GB"/>
              <a:t>Non-verbal communication helps express feelings and attitudes and can support or sometimes contradict what a person is saying.</a:t>
            </a:r>
            <a:endParaRPr lang="en-US" altLang="en-GB"/>
          </a:p>
          <a:p>
            <a:pPr marL="0" indent="0" algn="ctr">
              <a:buNone/>
            </a:pPr>
            <a:r>
              <a:rPr lang="en-US" altLang="en-GB" sz="7200" b="1"/>
              <a:t>3. Written Communication</a:t>
            </a:r>
            <a:endParaRPr lang="en-US" altLang="en-GB" sz="7200" b="1"/>
          </a:p>
          <a:p>
            <a:pPr marL="0" indent="0">
              <a:buNone/>
            </a:pPr>
            <a:r>
              <a:rPr lang="en-US" altLang="en-GB"/>
              <a:t>      Written communication</a:t>
            </a:r>
            <a:r>
              <a:rPr lang="" altLang="en-US"/>
              <a:t> </a:t>
            </a:r>
            <a:r>
              <a:rPr lang="en-US" altLang="en-GB"/>
              <a:t>involves using</a:t>
            </a:r>
            <a:r>
              <a:rPr lang="" altLang="en-US"/>
              <a:t> </a:t>
            </a:r>
            <a:r>
              <a:rPr lang="en-US" altLang="en-GB"/>
              <a:t>written words or symbols to send information from one person to another. It is useful when information needs to be recorded, stored, or referred to later.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7230"/>
            <a:ext cx="10515600" cy="5480050"/>
          </a:xfrm>
        </p:spPr>
        <p:txBody>
          <a:bodyPr/>
          <a:p>
            <a:pPr marL="0" indent="0" algn="l">
              <a:buNone/>
            </a:pPr>
            <a:r>
              <a:rPr lang="en-US" altLang="en-GB" sz="2800" b="1">
                <a:solidFill>
                  <a:schemeClr val="tx1"/>
                </a:solidFill>
              </a:rPr>
              <a:t>Examples:</a:t>
            </a:r>
            <a:endParaRPr lang="en-US" altLang="en-GB" sz="2800" b="1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Letters</a:t>
            </a:r>
            <a:endParaRPr lang="en-US" altLang="en-GB" sz="2800"/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Emails</a:t>
            </a:r>
            <a:endParaRPr lang="en-US" altLang="en-GB" sz="2800"/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Text messages</a:t>
            </a:r>
            <a:endParaRPr lang="en-US" altLang="en-GB" sz="2800"/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Reports</a:t>
            </a:r>
            <a:endParaRPr lang="en-US" altLang="en-GB" sz="2800"/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Notices</a:t>
            </a:r>
            <a:endParaRPr lang="en-US" altLang="en-GB" sz="2800"/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Business documents</a:t>
            </a:r>
            <a:endParaRPr lang="en-US" altLang="en-GB" sz="2800"/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Social media posts</a:t>
            </a:r>
            <a:endParaRPr lang="en-US" altLang="en-GB" sz="2800"/>
          </a:p>
          <a:p>
            <a:pPr marL="0" indent="0">
              <a:buNone/>
            </a:pPr>
            <a:r>
              <a:rPr lang="en-US" altLang="en-GB" sz="2800" b="1"/>
              <a:t>Importance:</a:t>
            </a:r>
            <a:r>
              <a:rPr lang="" altLang="en-US" sz="2800"/>
              <a:t> </a:t>
            </a:r>
            <a:r>
              <a:rPr lang="en-US" altLang="en-GB" sz="2800"/>
              <a:t>Written communication provides a permanent record of information and allows people to communicate even when they are not together at the same time.</a:t>
            </a:r>
            <a:endParaRPr lang="en-US" altLang="en-GB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QUESTION 3:</a:t>
            </a:r>
            <a:br>
              <a:rPr lang="en-US" altLang="en-GB"/>
            </a:br>
            <a:r>
              <a:rPr lang="en-US" altLang="en-GB"/>
              <a:t>Explain these terms as used in communication process: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GB" b="1"/>
              <a:t>1. Sender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The</a:t>
            </a:r>
            <a:r>
              <a:rPr lang="" altLang="en-US"/>
              <a:t> </a:t>
            </a:r>
            <a:r>
              <a:rPr lang="en-US" altLang="en-GB"/>
              <a:t>sender</a:t>
            </a:r>
            <a:r>
              <a:rPr lang="" altLang="en-US"/>
              <a:t> </a:t>
            </a:r>
            <a:r>
              <a:rPr lang="en-US" altLang="en-GB"/>
              <a:t>is the person who</a:t>
            </a:r>
            <a:r>
              <a:rPr lang="" altLang="en-US"/>
              <a:t> </a:t>
            </a:r>
            <a:r>
              <a:rPr lang="en-US" altLang="en-GB"/>
              <a:t>starts the communication by creating and sending information</a:t>
            </a:r>
            <a:r>
              <a:rPr lang="" altLang="en-US"/>
              <a:t> </a:t>
            </a:r>
            <a:r>
              <a:rPr lang="en-US" altLang="en-GB"/>
              <a:t>to another person or group.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r>
              <a:rPr lang="" altLang="en-US"/>
              <a:t> </a:t>
            </a:r>
            <a:r>
              <a:rPr lang="en-US" altLang="en-GB"/>
              <a:t>A teacher giving instructions to students is the sender.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2. Receiver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The</a:t>
            </a:r>
            <a:r>
              <a:rPr lang="" altLang="en-US"/>
              <a:t> </a:t>
            </a:r>
            <a:r>
              <a:rPr lang="en-US" altLang="en-GB"/>
              <a:t>receiver</a:t>
            </a:r>
            <a:r>
              <a:rPr lang="" altLang="en-US"/>
              <a:t> </a:t>
            </a:r>
            <a:r>
              <a:rPr lang="en-US" altLang="en-GB"/>
              <a:t>is the person or group who</a:t>
            </a:r>
            <a:r>
              <a:rPr lang="" altLang="en-US"/>
              <a:t> </a:t>
            </a:r>
            <a:r>
              <a:rPr lang="en-US" altLang="en-GB"/>
              <a:t>receives and interprets the message</a:t>
            </a:r>
            <a:r>
              <a:rPr lang="" altLang="en-US"/>
              <a:t> </a:t>
            </a:r>
            <a:r>
              <a:rPr lang="en-US" altLang="en-GB"/>
              <a:t>sent by the sender.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r>
              <a:rPr lang="" altLang="en-US"/>
              <a:t> </a:t>
            </a:r>
            <a:r>
              <a:rPr lang="en-US" altLang="en-GB"/>
              <a:t>The students listening to the teacher's instructions are the receivers.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3. Message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The</a:t>
            </a:r>
            <a:r>
              <a:rPr lang="" altLang="en-US"/>
              <a:t> </a:t>
            </a:r>
            <a:r>
              <a:rPr lang="en-US" altLang="en-GB"/>
              <a:t>message</a:t>
            </a:r>
            <a:r>
              <a:rPr lang="" altLang="en-US"/>
              <a:t> </a:t>
            </a:r>
            <a:r>
              <a:rPr lang="en-US" altLang="en-GB"/>
              <a:t>is the</a:t>
            </a:r>
            <a:r>
              <a:rPr lang="" altLang="en-US"/>
              <a:t> </a:t>
            </a:r>
            <a:r>
              <a:rPr lang="en-US" altLang="en-GB"/>
              <a:t>information, idea, thought, feeling, or instruction that the sender wants to communicate</a:t>
            </a:r>
            <a:r>
              <a:rPr lang="" altLang="en-US"/>
              <a:t> </a:t>
            </a:r>
            <a:r>
              <a:rPr lang="en-US" altLang="en-GB"/>
              <a:t>to the receiver.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r>
              <a:rPr lang="" altLang="en-US"/>
              <a:t> </a:t>
            </a:r>
            <a:r>
              <a:rPr lang="en-US" altLang="en-GB"/>
              <a:t>"Submit your assignment by Friday" is a message.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0395"/>
            <a:ext cx="10515600" cy="555688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GB" b="1"/>
              <a:t>4. Medium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The</a:t>
            </a:r>
            <a:r>
              <a:rPr lang="" altLang="en-US"/>
              <a:t> </a:t>
            </a:r>
            <a:r>
              <a:rPr lang="en-US" altLang="en-GB"/>
              <a:t>medium</a:t>
            </a:r>
            <a:r>
              <a:rPr lang="" altLang="en-US"/>
              <a:t> </a:t>
            </a:r>
            <a:r>
              <a:rPr lang="en-US" altLang="en-GB"/>
              <a:t>is the</a:t>
            </a:r>
            <a:r>
              <a:rPr lang="" altLang="en-US"/>
              <a:t> </a:t>
            </a:r>
            <a:r>
              <a:rPr lang="en-US" altLang="en-GB"/>
              <a:t>method or channel used to transmit the message from the sender to the receiver.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Examples:</a:t>
            </a:r>
            <a:endParaRPr lang="en-US" altLang="en-GB" b="1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Speaking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Telephone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Email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Letter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Text message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Social media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videos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graphs</a:t>
            </a:r>
            <a:endParaRPr lang="en-US" altLang="en-GB"/>
          </a:p>
          <a:p>
            <a:pPr marL="0" indent="0">
              <a:buNone/>
            </a:pPr>
            <a:r>
              <a:rPr lang="en-US" altLang="en-GB" b="1">
                <a:solidFill>
                  <a:schemeClr val="tx1"/>
                </a:solidFill>
              </a:rPr>
              <a:t>Example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If a teacher sends instructions through WhatSapp, WhatsApp is the medium.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3085"/>
            <a:ext cx="10515600" cy="562419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GB" sz="6000" b="1"/>
              <a:t>5. Feedback</a:t>
            </a:r>
            <a:endParaRPr lang="en-US" altLang="en-GB" sz="6000" b="1"/>
          </a:p>
          <a:p>
            <a:pPr marL="0" indent="0">
              <a:buNone/>
            </a:pPr>
            <a:r>
              <a:rPr lang="en-US" altLang="en-GB"/>
              <a:t>Feedback</a:t>
            </a:r>
            <a:r>
              <a:rPr lang="" altLang="en-US"/>
              <a:t> </a:t>
            </a:r>
            <a:r>
              <a:rPr lang="en-US" altLang="en-GB"/>
              <a:t>is the</a:t>
            </a:r>
            <a:r>
              <a:rPr lang="" altLang="en-US"/>
              <a:t> </a:t>
            </a:r>
            <a:r>
              <a:rPr lang="en-US" altLang="en-GB"/>
              <a:t>response given by the receiver after receiving and understanding the message. It helps the sender know whether the message was understood.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Example:</a:t>
            </a:r>
            <a:r>
              <a:rPr lang="" altLang="en-US" b="1"/>
              <a:t> </a:t>
            </a:r>
            <a:r>
              <a:rPr lang="en-US" altLang="en-GB"/>
              <a:t>A student saying, "Yes, I understand," is feedback to the teacher.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3615"/>
          </a:xfrm>
        </p:spPr>
        <p:txBody>
          <a:bodyPr>
            <a:normAutofit fontScale="90000"/>
          </a:bodyPr>
          <a:p>
            <a:pPr algn="ctr"/>
            <a:r>
              <a:rPr lang="en-US" altLang="en-GB" b="1"/>
              <a:t>QUESTION 4:</a:t>
            </a:r>
            <a:br>
              <a:rPr lang="en-US" altLang="en-GB" b="1"/>
            </a:br>
            <a:r>
              <a:rPr lang="en-US" altLang="en-GB" b="1"/>
              <a:t>What is Noise?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GB"/>
              <a:t>   Noise</a:t>
            </a:r>
            <a:r>
              <a:rPr lang="" altLang="en-US"/>
              <a:t> </a:t>
            </a:r>
            <a:r>
              <a:rPr lang="en-US" altLang="en-GB"/>
              <a:t>is anything that</a:t>
            </a:r>
            <a:r>
              <a:rPr lang="" altLang="en-US"/>
              <a:t> </a:t>
            </a:r>
            <a:r>
              <a:rPr lang="en-US" altLang="en-GB"/>
              <a:t>interferes with or disturbs the communication process, making it difficult for the receiver to understand the message correctly.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Examples of noise</a:t>
            </a:r>
            <a:endParaRPr lang="en-US" altLang="en-GB" b="1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 b="1"/>
              <a:t>Physical noise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Loud music, traffic, or people talking during a conversation.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 b="1"/>
              <a:t>Psychological noise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Stress, worry, anger, or lack of concentration.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 b="1"/>
              <a:t>Technical noise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Poor phone connection, microphone problems, or internet interruptions.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 b="1"/>
              <a:t>Language noise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Difficult words, unfamiliar language, or unclear expressions.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Example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If a teacher is explaining a lesson while students are making a lot of noise, the students may not hear or understand the message properly. The classroom noise is therefore a form of</a:t>
            </a:r>
            <a:r>
              <a:rPr lang="" altLang="en-US"/>
              <a:t> </a:t>
            </a:r>
            <a:r>
              <a:rPr lang="en-US" altLang="en-GB"/>
              <a:t>noise in communication.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In simple terms,</a:t>
            </a:r>
            <a:r>
              <a:rPr lang="" altLang="en-US"/>
              <a:t> </a:t>
            </a:r>
            <a:r>
              <a:rPr lang="en-US" altLang="en-GB"/>
              <a:t>noise is any barrier that prevents a message from being communicated or understood effectively.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111250"/>
          </a:xfrm>
        </p:spPr>
        <p:txBody>
          <a:bodyPr>
            <a:normAutofit fontScale="90000"/>
          </a:bodyPr>
          <a:p>
            <a:pPr algn="ctr"/>
            <a:r>
              <a:rPr lang="en-US" altLang="en-GB" b="1"/>
              <a:t>QUESTION 5:</a:t>
            </a:r>
            <a:br>
              <a:rPr lang="en-US" altLang="en-GB" b="1"/>
            </a:br>
            <a:r>
              <a:rPr lang="en-US" altLang="en-GB" b="1"/>
              <a:t>Give the different types of communication processes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9385"/>
            <a:ext cx="10972800" cy="469836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/>
              <a:t> One-way communication</a:t>
            </a:r>
            <a:r>
              <a:rPr lang="" altLang="en-US"/>
              <a:t> </a:t>
            </a:r>
            <a:r>
              <a:rPr lang="en-US"/>
              <a:t>:</a:t>
            </a:r>
            <a:r>
              <a:rPr lang="en-US" altLang="en-GB"/>
              <a:t>Information moves in only one direction, from the sender to the receiver. There is little or no opportunity for the receiver to respond.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/>
              <a:t> Two-way communication: </a:t>
            </a:r>
            <a:r>
              <a:rPr lang="en-US" altLang="en-GB"/>
              <a:t>Information moves between the sender and receiver, allowing the receiver to respond or ask questions.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/>
              <a:t> Interactive communication: </a:t>
            </a:r>
            <a:r>
              <a:rPr lang="en-US" altLang="en-GB"/>
              <a:t>Both people communicate by taking turns sending messages and giving feedback. The roles of sender and receiver can change continuously.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Transactional communication: </a:t>
            </a:r>
            <a:r>
              <a:rPr lang="en-US" altLang="en-GB"/>
              <a:t>Communication happens continuously, with both people sending and receiving messages at the same time. It also involves verbal and non-verbal signals.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4885"/>
          </a:xfrm>
        </p:spPr>
        <p:txBody>
          <a:bodyPr>
            <a:normAutofit fontScale="90000"/>
          </a:bodyPr>
          <a:p>
            <a:pPr algn="ctr"/>
            <a:r>
              <a:rPr lang="en-US" altLang="en-GB" b="1"/>
              <a:t>QUESTION 6:</a:t>
            </a:r>
            <a:br>
              <a:rPr lang="en-US" altLang="en-GB" b="1"/>
            </a:br>
            <a:r>
              <a:rPr lang="en-US" altLang="en-GB" b="1"/>
              <a:t>Explain the barriers of effective communication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1. Language Barrier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This occurs when people use different languages or when difficult words, technical terms, or unfamiliar vocabulary are used.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2. Physical Barriers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These are physical conditions that interfere with communication.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Examples:</a:t>
            </a:r>
            <a:r>
              <a:rPr lang="" altLang="en-US"/>
              <a:t> </a:t>
            </a:r>
            <a:r>
              <a:rPr lang="en-US" altLang="en-GB"/>
              <a:t>Noise, distance, poor lighting, closed doors, or a poor telephone connection.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700"/>
            <a:ext cx="10972800" cy="57321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1900"/>
              <a:t>3.</a:t>
            </a:r>
            <a:r>
              <a:rPr lang="en-US" altLang="en-GB" sz="1900" b="1"/>
              <a:t> Psychological Barriers</a:t>
            </a:r>
            <a:endParaRPr lang="en-US" altLang="en-GB" sz="1900" b="1"/>
          </a:p>
          <a:p>
            <a:pPr marL="0" indent="0">
              <a:buNone/>
            </a:pPr>
            <a:r>
              <a:rPr lang="en-US" altLang="en-GB" sz="1900"/>
              <a:t>These are emotional or mental conditions that affect how a person communicates or understands information.</a:t>
            </a:r>
            <a:endParaRPr lang="en-US" altLang="en-GB" sz="1900"/>
          </a:p>
          <a:p>
            <a:pPr marL="0" indent="0">
              <a:buNone/>
            </a:pPr>
            <a:r>
              <a:rPr lang="en-US" altLang="en-GB" sz="1900" b="1"/>
              <a:t>Examples:</a:t>
            </a:r>
            <a:r>
              <a:rPr lang="" altLang="en-US" sz="1900"/>
              <a:t> </a:t>
            </a:r>
            <a:r>
              <a:rPr lang="en-US" altLang="en-GB" sz="1900"/>
              <a:t>Stress, fear, anger, anxiety, and lack of concentration.</a:t>
            </a:r>
            <a:endParaRPr lang="en-US" altLang="en-GB" sz="1900"/>
          </a:p>
          <a:p>
            <a:pPr marL="0" indent="0">
              <a:buNone/>
            </a:pPr>
            <a:r>
              <a:rPr lang="en-US" altLang="en-GB" sz="1900" b="1"/>
              <a:t>4. Cultural Barriers</a:t>
            </a:r>
            <a:endParaRPr lang="en-US" altLang="en-GB" sz="1900" b="1"/>
          </a:p>
          <a:p>
            <a:pPr marL="0" indent="0">
              <a:buNone/>
            </a:pPr>
            <a:r>
              <a:rPr lang="en-US" altLang="en-GB" sz="1900"/>
              <a:t>People from different cultures may have different beliefs, values, customs, and ways of expressing themselves.</a:t>
            </a:r>
            <a:endParaRPr lang="en-US" altLang="en-GB" sz="1900"/>
          </a:p>
          <a:p>
            <a:pPr marL="0" indent="0">
              <a:buNone/>
            </a:pPr>
            <a:r>
              <a:rPr lang="en-US" altLang="en-GB" sz="1900"/>
              <a:t>Example:</a:t>
            </a:r>
            <a:r>
              <a:rPr lang="" altLang="en-US" sz="1900"/>
              <a:t> </a:t>
            </a:r>
            <a:r>
              <a:rPr lang="en-US" altLang="en-GB" sz="1900"/>
              <a:t>A gesture that is acceptable in one culture may be considered offensive in another.</a:t>
            </a:r>
            <a:endParaRPr lang="en-US" altLang="en-GB" sz="1900"/>
          </a:p>
          <a:p>
            <a:pPr marL="0" indent="0">
              <a:buNone/>
            </a:pPr>
            <a:r>
              <a:rPr lang="en-US" altLang="en-GB" sz="1900" b="1"/>
              <a:t>5. Poor Listening</a:t>
            </a:r>
            <a:endParaRPr lang="en-US" altLang="en-GB" sz="1900" b="1"/>
          </a:p>
          <a:p>
            <a:pPr marL="0" indent="0">
              <a:buNone/>
            </a:pPr>
            <a:r>
              <a:rPr lang="en-US" altLang="en-GB" sz="1900"/>
              <a:t>Communication becomes ineffective when the receiver does not pay attention or listen carefully to the sender.</a:t>
            </a:r>
            <a:endParaRPr lang="en-US" altLang="en-GB" sz="1900"/>
          </a:p>
          <a:p>
            <a:pPr marL="0" indent="0">
              <a:buNone/>
            </a:pPr>
            <a:r>
              <a:rPr lang="en-US" altLang="en-GB" sz="1900"/>
              <a:t>Example:</a:t>
            </a:r>
            <a:r>
              <a:rPr lang="" altLang="en-US" sz="1900"/>
              <a:t> </a:t>
            </a:r>
            <a:r>
              <a:rPr lang="en-US" altLang="en-GB" sz="1900"/>
              <a:t>A student using a phone while the teacher is explaining an important topic.</a:t>
            </a:r>
            <a:endParaRPr lang="en-US" altLang="en-GB" sz="1900"/>
          </a:p>
          <a:p>
            <a:pPr marL="0" indent="0">
              <a:buNone/>
            </a:pPr>
            <a:r>
              <a:rPr lang="en-US" altLang="en-GB" sz="1900" b="1"/>
              <a:t>6. Lack of Feedback</a:t>
            </a:r>
            <a:endParaRPr lang="en-US" altLang="en-GB" sz="1900" b="1"/>
          </a:p>
          <a:p>
            <a:pPr marL="0" indent="0">
              <a:buNone/>
            </a:pPr>
            <a:r>
              <a:rPr lang="en-US" altLang="en-GB" sz="1900"/>
              <a:t>When the receiver does not respond, the sender may not know whether the message has been understood.</a:t>
            </a:r>
            <a:endParaRPr lang="en-US" altLang="en-GB" sz="1900"/>
          </a:p>
          <a:p>
            <a:pPr marL="0" indent="0">
              <a:buNone/>
            </a:pPr>
            <a:r>
              <a:rPr lang="en-US" altLang="en-GB" sz="1900"/>
              <a:t>Example:</a:t>
            </a:r>
            <a:r>
              <a:rPr lang="" altLang="en-US" sz="1900"/>
              <a:t> </a:t>
            </a:r>
            <a:r>
              <a:rPr lang="en-US" altLang="en-GB" sz="1900"/>
              <a:t>An employee receives instructions but does not ask questions or confirm understanding.</a:t>
            </a:r>
            <a:endParaRPr lang="en-US" altLang="en-GB" sz="1900"/>
          </a:p>
          <a:p>
            <a:pPr marL="0" indent="0">
              <a:buNone/>
            </a:pPr>
            <a:r>
              <a:rPr lang="en-US" altLang="en-GB" sz="1900"/>
              <a:t> </a:t>
            </a:r>
            <a:endParaRPr lang="en-US" altLang="en-GB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46710"/>
            <a:ext cx="10972800" cy="578104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GB" b="1"/>
              <a:t>8. Wrong Choice of Medium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   Using an inappropriate communication channel can make the message less effective.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r>
              <a:rPr lang="" altLang="en-US"/>
              <a:t> </a:t>
            </a:r>
            <a:r>
              <a:rPr lang="en-US" altLang="en-GB"/>
              <a:t>Sending a complicated issue through a short text message when a face-to-face discussion would be better.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9. Lack of Clarity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   A message that is vague, incomplete, or confusing can easily be misunderstood.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r>
              <a:rPr lang="" altLang="en-US"/>
              <a:t> </a:t>
            </a:r>
            <a:r>
              <a:rPr lang="en-US" altLang="en-GB"/>
              <a:t>Saying, "Do it soon," without explaining what should be done or when it should be completed.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10. Noise</a:t>
            </a:r>
            <a:endParaRPr lang="en-US" altLang="en-GB" b="1"/>
          </a:p>
          <a:p>
            <a:pPr marL="0" indent="0">
              <a:buNone/>
            </a:pPr>
            <a:r>
              <a:rPr lang="en-US" altLang="en-GB"/>
              <a:t>  Noise is anything that interferes with the communication process.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Example:</a:t>
            </a:r>
            <a:r>
              <a:rPr lang="" altLang="en-US"/>
              <a:t> </a:t>
            </a:r>
            <a:r>
              <a:rPr lang="en-US" altLang="en-GB"/>
              <a:t>Loud music or people talking while someone is trying to give instructions.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54075"/>
          </a:xfrm>
        </p:spPr>
        <p:txBody>
          <a:bodyPr>
            <a:normAutofit fontScale="90000"/>
          </a:bodyPr>
          <a:p>
            <a:pPr algn="ctr"/>
            <a:r>
              <a:rPr lang="en-US" altLang="en-GB" b="1"/>
              <a:t>QUESTION 7:</a:t>
            </a:r>
            <a:br>
              <a:rPr lang="en-US" altLang="en-GB" b="1"/>
            </a:br>
            <a:r>
              <a:rPr lang="en-US" altLang="en-GB" b="1"/>
              <a:t>Define Communication Networks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GB"/>
              <a:t> Communication networks</a:t>
            </a:r>
            <a:r>
              <a:rPr lang="" altLang="en-US"/>
              <a:t> </a:t>
            </a:r>
            <a:r>
              <a:rPr lang="en-US" altLang="en-GB"/>
              <a:t>are the</a:t>
            </a:r>
            <a:r>
              <a:rPr lang="" altLang="en-US"/>
              <a:t> </a:t>
            </a:r>
            <a:r>
              <a:rPr lang="en-US" altLang="en-GB"/>
              <a:t>patterns or channels through which information flows between people or groups within an organization or other setting.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They show</a:t>
            </a:r>
            <a:r>
              <a:rPr lang="" altLang="en-US"/>
              <a:t> </a:t>
            </a:r>
            <a:r>
              <a:rPr lang="en-US" altLang="en-GB"/>
              <a:t>who communicates with whom and how information moves</a:t>
            </a:r>
            <a:r>
              <a:rPr lang="" altLang="en-US"/>
              <a:t> </a:t>
            </a:r>
            <a:r>
              <a:rPr lang="en-US" altLang="en-GB"/>
              <a:t>from one person to another.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85190"/>
          </a:xfrm>
        </p:spPr>
        <p:txBody>
          <a:bodyPr/>
          <a:p>
            <a:r>
              <a:rPr lang="en-US" altLang="en-GB" b="1">
                <a:sym typeface="+mn-ea"/>
              </a:rPr>
              <a:t>Common types of communication networks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sz="2400">
                <a:sym typeface="+mn-ea"/>
              </a:rPr>
              <a:t>1.</a:t>
            </a:r>
            <a:r>
              <a:rPr lang="en-US" altLang="en-GB" sz="2400" b="1">
                <a:sym typeface="+mn-ea"/>
              </a:rPr>
              <a:t>Chain network:</a:t>
            </a:r>
            <a:r>
              <a:rPr lang="en-US" altLang="en-US" sz="2400" b="1">
                <a:sym typeface="+mn-ea"/>
              </a:rPr>
              <a:t> </a:t>
            </a:r>
            <a:r>
              <a:rPr lang="en-US" altLang="en-GB" sz="2400">
                <a:sym typeface="+mn-ea"/>
              </a:rPr>
              <a:t> Information passes from one person to the next in a sequence.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Example</a:t>
            </a:r>
            <a:r>
              <a:rPr lang="en-US" altLang="en-GB" sz="2400">
                <a:sym typeface="+mn-ea"/>
              </a:rPr>
              <a:t>:</a:t>
            </a:r>
            <a:r>
              <a:rPr lang="en-US" altLang="en-US" sz="2400">
                <a:sym typeface="+mn-ea"/>
              </a:rPr>
              <a:t> </a:t>
            </a:r>
            <a:r>
              <a:rPr lang="en-US" altLang="en-GB" sz="2400">
                <a:sym typeface="+mn-ea"/>
              </a:rPr>
              <a:t>Manager </a:t>
            </a:r>
            <a:r>
              <a:rPr lang="en-US" altLang="en-US" sz="2400">
                <a:sym typeface="+mn-ea"/>
              </a:rPr>
              <a:t>→</a:t>
            </a:r>
            <a:r>
              <a:rPr lang="en-US" altLang="en-GB" sz="2400">
                <a:sym typeface="+mn-ea"/>
              </a:rPr>
              <a:t> Supervisor </a:t>
            </a:r>
            <a:r>
              <a:rPr lang="en-US" altLang="en-US" sz="2400">
                <a:sym typeface="+mn-ea"/>
              </a:rPr>
              <a:t>→</a:t>
            </a:r>
            <a:r>
              <a:rPr lang="en-US" altLang="en-GB" sz="2400">
                <a:sym typeface="+mn-ea"/>
              </a:rPr>
              <a:t> Employee.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2.Wheel network</a:t>
            </a:r>
            <a:r>
              <a:rPr lang="en-US" altLang="en-US" sz="2400">
                <a:sym typeface="+mn-ea"/>
              </a:rPr>
              <a:t> </a:t>
            </a:r>
            <a:r>
              <a:rPr lang="en-US" sz="2400">
                <a:sym typeface="+mn-ea"/>
              </a:rPr>
              <a:t>:</a:t>
            </a:r>
            <a:r>
              <a:rPr lang="en-US" altLang="en-GB" sz="2400">
                <a:sym typeface="+mn-ea"/>
              </a:rPr>
              <a:t> One central person communicates with all the other members.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>
                <a:sym typeface="+mn-ea"/>
              </a:rPr>
              <a:t>Example:</a:t>
            </a:r>
            <a:r>
              <a:rPr lang="en-US" altLang="en-US" sz="2400">
                <a:sym typeface="+mn-ea"/>
              </a:rPr>
              <a:t> </a:t>
            </a:r>
            <a:r>
              <a:rPr lang="en-US" altLang="en-GB" sz="2400">
                <a:sym typeface="+mn-ea"/>
              </a:rPr>
              <a:t>A manager giving instructions directly to several employees.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3.Circle network</a:t>
            </a:r>
            <a:r>
              <a:rPr lang="en-US" altLang="en-US" sz="2400">
                <a:sym typeface="+mn-ea"/>
              </a:rPr>
              <a:t> </a:t>
            </a:r>
            <a:r>
              <a:rPr lang="en-US" sz="2400">
                <a:sym typeface="+mn-ea"/>
              </a:rPr>
              <a:t>:</a:t>
            </a:r>
            <a:r>
              <a:rPr lang="en-US" altLang="en-GB" sz="2400">
                <a:sym typeface="+mn-ea"/>
              </a:rPr>
              <a:t> Each person communicates with the person next to them, forming a circle.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4.All-channel network;</a:t>
            </a:r>
            <a:r>
              <a:rPr lang="en-US" altLang="en-GB" sz="2400">
                <a:sym typeface="+mn-ea"/>
              </a:rPr>
              <a:t> Everyone can communicate directly with everyone else.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>
                <a:sym typeface="+mn-ea"/>
              </a:rPr>
              <a:t>Example:</a:t>
            </a:r>
            <a:r>
              <a:rPr lang="en-US" altLang="en-US" sz="2400">
                <a:sym typeface="+mn-ea"/>
              </a:rPr>
              <a:t> </a:t>
            </a:r>
            <a:r>
              <a:rPr lang="en-US" altLang="en-GB" sz="2400">
                <a:sym typeface="+mn-ea"/>
              </a:rPr>
              <a:t>Members of a team discussing a problem together.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5.Y network</a:t>
            </a:r>
            <a:r>
              <a:rPr lang="en-US" altLang="en-US" sz="2400" b="1">
                <a:sym typeface="+mn-ea"/>
              </a:rPr>
              <a:t> </a:t>
            </a:r>
            <a:r>
              <a:rPr lang="en-US" sz="2400">
                <a:sym typeface="+mn-ea"/>
              </a:rPr>
              <a:t>;</a:t>
            </a:r>
            <a:r>
              <a:rPr lang="en-US" altLang="en-GB" sz="2400">
                <a:sym typeface="+mn-ea"/>
              </a:rPr>
              <a:t>Communication flows through a central person and then branches to different members.</a:t>
            </a:r>
            <a:endParaRPr lang="en-US" altLang="en-GB" sz="2400"/>
          </a:p>
          <a:p>
            <a:endParaRPr lang="en-GB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4885"/>
          </a:xfrm>
        </p:spPr>
        <p:txBody>
          <a:bodyPr/>
          <a:lstStyle/>
          <a:p>
            <a:pPr algn="ctr"/>
            <a:r>
              <a:rPr lang="en-US" altLang="en-GB" sz="3200" b="1" dirty="0"/>
              <a:t> QUESTION 8</a:t>
            </a:r>
            <a:br>
              <a:rPr lang="en-GB" sz="3200" b="1" dirty="0"/>
            </a:br>
            <a:r>
              <a:rPr lang="en-GB" sz="3200" b="1" dirty="0"/>
              <a:t>Give the different types of communication processes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9375"/>
            <a:ext cx="10972800" cy="4970145"/>
          </a:xfrm>
        </p:spPr>
        <p:txBody>
          <a:bodyPr>
            <a:normAutofit fontScale="75000" lnSpcReduction="20000"/>
          </a:bodyPr>
          <a:lstStyle/>
          <a:p>
            <a:pPr marL="0" indent="0">
              <a:buNone/>
            </a:pPr>
            <a:r>
              <a:rPr lang="en-US" dirty="0"/>
              <a:t> The two perspectives in which communication networks occur are commonly described as small-group networks and formalized/formal networks.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. Small-group communication network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    This </a:t>
            </a:r>
            <a:r>
              <a:rPr lang="en-US" dirty="0"/>
              <a:t>occurs when a small number of people communicate with one another to share information, solve problems, or make decisions.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b="1" dirty="0" smtClean="0"/>
              <a:t>   Example</a:t>
            </a:r>
            <a:r>
              <a:rPr lang="en-US" dirty="0"/>
              <a:t>: A group of five students discussing how to complete an assignment.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Formalized communication network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    This </a:t>
            </a:r>
            <a:r>
              <a:rPr lang="en-US" dirty="0"/>
              <a:t>is a structured communication system established by an organization, showing how information should flow between different people, departments, or levels of authority.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Example</a:t>
            </a:r>
            <a:r>
              <a:rPr lang="en-US" dirty="0"/>
              <a:t>: In an organization, information may flow from the manager → supervisor → employees.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4968"/>
            <a:ext cx="10815851" cy="11054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45" b="1" dirty="0" smtClean="0"/>
              <a:t>QUESTION 9</a:t>
            </a:r>
            <a:br>
              <a:rPr lang="en-US" sz="4445" b="1" dirty="0" smtClean="0"/>
            </a:br>
            <a:r>
              <a:rPr lang="en-US" sz="4445" b="1" dirty="0" smtClean="0"/>
              <a:t>Explain the following types of Networks:</a:t>
            </a:r>
            <a:endParaRPr lang="en-US" sz="4445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6407"/>
            <a:ext cx="10515600" cy="4351338"/>
          </a:xfrm>
        </p:spPr>
        <p:txBody>
          <a:bodyPr>
            <a:normAutofit fontScale="82500"/>
          </a:bodyPr>
          <a:lstStyle/>
          <a:p>
            <a:r>
              <a:rPr lang="en-US" dirty="0" smtClean="0"/>
              <a:t>Cycles</a:t>
            </a:r>
            <a:endParaRPr lang="en-US" dirty="0" smtClean="0"/>
          </a:p>
          <a:p>
            <a:r>
              <a:rPr lang="en-US" dirty="0" smtClean="0"/>
              <a:t>Chain</a:t>
            </a:r>
            <a:endParaRPr lang="en-US" dirty="0"/>
          </a:p>
          <a:p>
            <a:r>
              <a:rPr lang="en-US" dirty="0"/>
              <a:t>Wheel</a:t>
            </a:r>
            <a:endParaRPr lang="en-US" dirty="0"/>
          </a:p>
          <a:p>
            <a:r>
              <a:rPr lang="en-US" dirty="0" smtClean="0"/>
              <a:t>Y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Circle </a:t>
            </a:r>
            <a:r>
              <a:rPr lang="en-US" b="1" dirty="0"/>
              <a:t>Network.</a:t>
            </a:r>
            <a:r>
              <a:rPr lang="en-US" dirty="0"/>
              <a:t> Refers to a communication pattern where each person communicates with the person next to them, forming a circle. Information can move around the group in either direction.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> A group of four workers where each worker communicates with the person beside them.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-635"/>
            <a:ext cx="10972800" cy="6128385"/>
          </a:xfrm>
        </p:spPr>
        <p:txBody>
          <a:bodyPr>
            <a:normAutofit lnSpcReduction="20000"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Chain Network.</a:t>
            </a:r>
            <a:r>
              <a:rPr lang="en-US" dirty="0"/>
              <a:t> Refers to a communication pattern where information passes from one person to another in a sequence.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 Example</a:t>
            </a:r>
            <a:r>
              <a:rPr lang="en-US" b="1" dirty="0"/>
              <a:t>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Manager → Supervisor → Team leader → Employee.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type is common in organizations with different levels of authority.</a:t>
            </a:r>
            <a:endParaRPr lang="en-US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b="1" dirty="0" smtClean="0"/>
              <a:t> Wheel </a:t>
            </a:r>
            <a:r>
              <a:rPr lang="en-US" b="1" dirty="0"/>
              <a:t>Network.</a:t>
            </a:r>
            <a:r>
              <a:rPr lang="en-US" dirty="0"/>
              <a:t> This has one central person who communicates with all the other members. The members usually communicate through the central person rather than directly with one another.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> A manager gives instructions directly to several employees and receives information back from them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5970"/>
            <a:ext cx="10972800" cy="5351780"/>
          </a:xfrm>
        </p:spPr>
        <p:txBody>
          <a:bodyPr>
            <a:normAutofit fontScale="82500"/>
          </a:bodyPr>
          <a:lstStyle/>
          <a:p>
            <a:pPr marL="0" lvl="0" indent="0">
              <a:buNone/>
            </a:pPr>
            <a:r>
              <a:rPr lang="en-US" b="1" dirty="0"/>
              <a:t>Y Network. </a:t>
            </a:r>
            <a:r>
              <a:rPr lang="en-US" dirty="0"/>
              <a:t>This is similar to a chain but has a branching structure. One person is at the central point, and communication flows through different branches to other members.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    Manager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</a:t>
            </a:r>
            <a:r>
              <a:rPr lang="en-US" dirty="0"/>
              <a:t>|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/>
              <a:t>Supervisor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/       \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/>
              <a:t>Worker      </a:t>
            </a:r>
            <a:r>
              <a:rPr lang="en-US" dirty="0" err="1"/>
              <a:t>Worker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 Y network is often used where communication follows a formal organizational structure.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537970"/>
          </a:xfrm>
        </p:spPr>
        <p:txBody>
          <a:bodyPr>
            <a:noAutofit/>
          </a:bodyPr>
          <a:lstStyle/>
          <a:p>
            <a:pPr algn="l"/>
            <a:br>
              <a:rPr lang="en-US" sz="3200" dirty="0" smtClean="0"/>
            </a:br>
            <a:r>
              <a:rPr lang="en-US" sz="3200" dirty="0" smtClean="0"/>
              <a:t>QUESTION 10</a:t>
            </a:r>
            <a:br>
              <a:rPr lang="en-US" sz="3200" dirty="0" smtClean="0"/>
            </a:br>
            <a:r>
              <a:rPr lang="en-US" sz="3200" dirty="0" smtClean="0"/>
              <a:t>Give </a:t>
            </a:r>
            <a:r>
              <a:rPr lang="en-US" sz="3200" dirty="0"/>
              <a:t>seven 7 internal and external communication networks and explain the purpose of each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14550"/>
            <a:ext cx="10972800" cy="401320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400" dirty="0"/>
              <a:t>    Communication Networks can be divided into internal networks, which operate within an organization, and external networks, which connect an organization with people outside </a:t>
            </a:r>
            <a:r>
              <a:rPr lang="en-US" sz="2400" dirty="0" smtClean="0"/>
              <a:t>it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Internal Communication Networks includes the </a:t>
            </a:r>
            <a:r>
              <a:rPr lang="en-US" sz="2400" dirty="0" smtClean="0"/>
              <a:t>following</a:t>
            </a:r>
            <a:r>
              <a:rPr lang="en-US" dirty="0" smtClean="0"/>
              <a:t>: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Downward </a:t>
            </a:r>
            <a:r>
              <a:rPr lang="en-US" sz="2400" dirty="0"/>
              <a:t>communication network</a:t>
            </a:r>
            <a:br>
              <a:rPr lang="en-US" sz="2400" dirty="0"/>
            </a:br>
            <a:r>
              <a:rPr lang="en-US" sz="2400" dirty="0"/>
              <a:t>Information flows from senior management to lower-level employees.</a:t>
            </a:r>
            <a:br>
              <a:rPr lang="en-US" sz="2400" dirty="0"/>
            </a:br>
            <a:r>
              <a:rPr lang="en-US" sz="2400" dirty="0"/>
              <a:t>Purpose: To give instructions, policies, procedures, and information about organizational decisions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Upward communication network</a:t>
            </a:r>
            <a:br>
              <a:rPr lang="en-US" sz="2400" dirty="0"/>
            </a:br>
            <a:r>
              <a:rPr lang="en-US" sz="2400" dirty="0"/>
              <a:t>Information flows from employees to managers or senior management.</a:t>
            </a:r>
            <a:br>
              <a:rPr lang="en-US" sz="2400" dirty="0"/>
            </a:br>
            <a:r>
              <a:rPr lang="en-US" sz="2400" dirty="0"/>
              <a:t>Purpose: To provide feedback, suggestions, complaints, reports, and information about problems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Horizontal communication network</a:t>
            </a:r>
            <a:br>
              <a:rPr lang="en-US" dirty="0"/>
            </a:br>
            <a:r>
              <a:rPr lang="en-US" dirty="0"/>
              <a:t>Communication takes place between people or departments at the same level of an organization.</a:t>
            </a:r>
            <a:br>
              <a:rPr lang="en-US" dirty="0"/>
            </a:br>
            <a:r>
              <a:rPr lang="en-US" dirty="0"/>
              <a:t>Purpose: To coordinate activities, share information, and solve problems together.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Diagonal communication network</a:t>
            </a:r>
            <a:br>
              <a:rPr lang="en-US" dirty="0"/>
            </a:br>
            <a:r>
              <a:rPr lang="en-US" dirty="0"/>
              <a:t>Communication occurs between people in different departments and at different levels of the organization.</a:t>
            </a:r>
            <a:br>
              <a:rPr lang="en-US" dirty="0"/>
            </a:br>
            <a:r>
              <a:rPr lang="en-US" dirty="0"/>
              <a:t>Purpose: To improve coordination and allow information to move quickly across departments.</a:t>
            </a:r>
            <a:endParaRPr lang="en-US" sz="1800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70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555" b="1" dirty="0"/>
              <a:t>External Communication Networks includes the following:</a:t>
            </a:r>
            <a:br>
              <a:rPr lang="en-US" sz="3110" b="1" dirty="0"/>
            </a:br>
            <a:endParaRPr lang="en-US" sz="311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52270"/>
            <a:ext cx="10972800" cy="482536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Customer/client communication network</a:t>
            </a:r>
            <a:br>
              <a:rPr lang="en-US" sz="2800" dirty="0"/>
            </a:br>
            <a:r>
              <a:rPr lang="en-US" sz="2800" dirty="0"/>
              <a:t>Communication takes place between an organization and its customers or clients.</a:t>
            </a:r>
            <a:br>
              <a:rPr lang="en-US" sz="2800" dirty="0"/>
            </a:br>
            <a:r>
              <a:rPr lang="en-US" sz="2800" dirty="0"/>
              <a:t>Purpose: To provide information, receive feedback, handle complaints, and maintain good customer relationships.</a:t>
            </a: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dirty="0"/>
              <a:t>Supplier communication network</a:t>
            </a:r>
            <a:br>
              <a:rPr lang="en-US" sz="2800" dirty="0"/>
            </a:br>
            <a:r>
              <a:rPr lang="en-US" sz="2800" dirty="0"/>
              <a:t>Communication occurs between an organization and its suppliers or service providers.</a:t>
            </a:r>
            <a:br>
              <a:rPr lang="en-US" sz="2800" dirty="0"/>
            </a:br>
            <a:r>
              <a:rPr lang="en-US" sz="2800" dirty="0"/>
              <a:t>Purpose: To order goods and services, discuss prices and delivery, and maintain reliable supplies.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21335"/>
            <a:ext cx="10972800" cy="56064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Public/community </a:t>
            </a:r>
            <a:r>
              <a:rPr lang="en-US" b="1" dirty="0"/>
              <a:t>communication network</a:t>
            </a:r>
            <a:br>
              <a:rPr lang="en-US" b="1" dirty="0"/>
            </a:br>
            <a:r>
              <a:rPr lang="en-US" dirty="0"/>
              <a:t>Communication takes place between an organization and the general public, local community, media, or other outside groups.</a:t>
            </a:r>
            <a:br>
              <a:rPr lang="en-US" dirty="0"/>
            </a:br>
            <a:r>
              <a:rPr lang="en-US" dirty="0"/>
              <a:t>Purpose: To create a positive public image, provide information, build trust, and maintain good relationships with the </a:t>
            </a:r>
            <a:r>
              <a:rPr lang="en-US" dirty="0" smtClean="0"/>
              <a:t>community.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GB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8750"/>
            <a:ext cx="10972800" cy="1063625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 smtClean="0">
                <a:sym typeface="+mn-ea"/>
              </a:rPr>
              <a:t>Question 11.</a:t>
            </a:r>
            <a:br>
              <a:rPr lang="en-GB" sz="3200" b="1" dirty="0" smtClean="0">
                <a:sym typeface="+mn-ea"/>
              </a:rPr>
            </a:br>
            <a:r>
              <a:rPr lang="en-US" sz="3200" b="1" dirty="0">
                <a:sym typeface="+mn-ea"/>
              </a:rPr>
              <a:t> Explain the 7Cs for effective communication</a:t>
            </a:r>
            <a:endParaRPr lang="en-US" sz="3200" b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375"/>
            <a:ext cx="10972800" cy="4905375"/>
          </a:xfrm>
        </p:spPr>
        <p:txBody>
          <a:bodyPr>
            <a:normAutofit fontScale="92500" lnSpcReduction="20000"/>
          </a:bodyPr>
          <a:lstStyle/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Clarity</a:t>
            </a:r>
            <a:br>
              <a:rPr lang="en-US" dirty="0"/>
            </a:br>
            <a:r>
              <a:rPr lang="en-US" dirty="0"/>
              <a:t>The message should be clear and easy to understand. Avoid confusing or ambiguous words.</a:t>
            </a:r>
            <a:br>
              <a:rPr lang="en-US" dirty="0"/>
            </a:br>
            <a:r>
              <a:rPr lang="en-US" b="1" dirty="0"/>
              <a:t>Example: </a:t>
            </a:r>
            <a:r>
              <a:rPr lang="en-US" dirty="0"/>
              <a:t>Instead of saying, “Come early,” say, “Please arrive at 8:00 a.m.”</a:t>
            </a:r>
            <a:endParaRPr lang="en-US" dirty="0"/>
          </a:p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Conciseness</a:t>
            </a:r>
            <a:br>
              <a:rPr lang="en-US" dirty="0"/>
            </a:br>
            <a:r>
              <a:rPr lang="en-US" dirty="0"/>
              <a:t>The message should be brief and to the point, without unnecessary information.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 Give only the information the receiver needs.</a:t>
            </a:r>
            <a:endParaRPr lang="en-US" dirty="0"/>
          </a:p>
          <a:p>
            <a:pPr>
              <a:buFont typeface="Wingdings" panose="05000000000000000000" charset="0"/>
              <a:buChar char="Ø"/>
            </a:pPr>
            <a:r>
              <a:rPr lang="en-US" b="1" dirty="0"/>
              <a:t>Completeness</a:t>
            </a:r>
            <a:br>
              <a:rPr lang="en-US" dirty="0"/>
            </a:br>
            <a:r>
              <a:rPr lang="en-US" dirty="0"/>
              <a:t>The message should contain all the necessary information the receiver needs to understand and act on it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37845"/>
            <a:ext cx="10972800" cy="558990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 </a:t>
            </a:r>
            <a:r>
              <a:rPr lang="en-US" b="1" dirty="0"/>
              <a:t> Example:</a:t>
            </a:r>
            <a:r>
              <a:rPr lang="en-US" dirty="0"/>
              <a:t> When giving an assignment, include the topic, deadline, and instructions.</a:t>
            </a:r>
            <a:endParaRPr lang="en-US" dirty="0"/>
          </a:p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Correctness</a:t>
            </a:r>
            <a:br>
              <a:rPr lang="en-US" dirty="0"/>
            </a:br>
            <a:r>
              <a:rPr lang="en-US" dirty="0"/>
              <a:t>The information should be accurate and free from errors in facts, grammar, spelling, and language.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Example:</a:t>
            </a:r>
            <a:r>
              <a:rPr lang="en-US" dirty="0"/>
              <a:t> Check dates, names, figures, and other important details before sending a message.</a:t>
            </a:r>
            <a:endParaRPr lang="en-US" dirty="0"/>
          </a:p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Concreteness</a:t>
            </a:r>
            <a:br>
              <a:rPr lang="en-US" dirty="0"/>
            </a:br>
            <a:r>
              <a:rPr lang="en-US" dirty="0"/>
              <a:t>The message should be specific, definite, and supported by facts or examples rather than being vague.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Example:</a:t>
            </a:r>
            <a:r>
              <a:rPr lang="en-US" dirty="0"/>
              <a:t> Instead of saying, “Sales increased a lot,” say, “Sales increased by 20</a:t>
            </a:r>
            <a:r>
              <a:rPr lang="en-US" dirty="0" smtClean="0"/>
              <a:t>%”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68960"/>
            <a:ext cx="10972800" cy="5558790"/>
          </a:xfrm>
        </p:spPr>
        <p:txBody>
          <a:bodyPr>
            <a:normAutofit fontScale="82500"/>
          </a:bodyPr>
          <a:lstStyle/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Courtesy</a:t>
            </a:r>
            <a:br>
              <a:rPr lang="en-US" dirty="0"/>
            </a:br>
            <a:r>
              <a:rPr lang="en-US" dirty="0"/>
              <a:t>Communication should be polite, respectful, and considerate of the feelings of others.</a:t>
            </a:r>
            <a:br>
              <a:rPr lang="en-US" dirty="0"/>
            </a:br>
            <a:r>
              <a:rPr lang="en-US" dirty="0"/>
              <a:t>Example: Use respectful language when correcting someone's mistake.</a:t>
            </a:r>
            <a:endParaRPr lang="en-US" dirty="0"/>
          </a:p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Consideration</a:t>
            </a:r>
            <a:br>
              <a:rPr lang="en-US" dirty="0"/>
            </a:br>
            <a:r>
              <a:rPr lang="en-US" dirty="0"/>
              <a:t>The sender should think about the receiver's needs, knowledge, feelings, and point of view when communicating.</a:t>
            </a:r>
            <a:br>
              <a:rPr lang="en-US" dirty="0"/>
            </a:br>
            <a:r>
              <a:rPr lang="en-US" b="1" dirty="0"/>
              <a:t>Example</a:t>
            </a:r>
            <a:r>
              <a:rPr lang="en-US" dirty="0"/>
              <a:t>: Explain a technical subject in simple language when speaking to someone who is unfamiliar with it.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In summary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The </a:t>
            </a:r>
            <a:r>
              <a:rPr lang="en-US" dirty="0"/>
              <a:t>7 Cs </a:t>
            </a:r>
            <a:r>
              <a:rPr lang="en-US" dirty="0" smtClean="0"/>
              <a:t>are: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b="1" dirty="0" smtClean="0"/>
              <a:t> Clarity </a:t>
            </a:r>
            <a:r>
              <a:rPr lang="en-US" b="1" dirty="0"/>
              <a:t>– Conciseness – Completeness – Correctness – Concreteness – Courtesy – Consideration.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235"/>
            <a:ext cx="10515600" cy="107251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555" b="1" dirty="0"/>
              <a:t>QUESTION 12</a:t>
            </a:r>
            <a:br>
              <a:rPr lang="en-US" sz="3555" b="1" dirty="0"/>
            </a:br>
            <a:r>
              <a:rPr lang="en-US" sz="3555" b="1" dirty="0"/>
              <a:t>How do we develop effective back skills?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1750"/>
            <a:ext cx="10988040" cy="52717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We can develop effective back skills in these ways: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Practice speaking regularly; </a:t>
            </a:r>
            <a:r>
              <a:rPr lang="en-US" dirty="0"/>
              <a:t>Speak in front of friends, classmates, or a mirror to build </a:t>
            </a:r>
            <a:r>
              <a:rPr lang="en-US" dirty="0" smtClean="0"/>
              <a:t>confidence.</a:t>
            </a:r>
            <a:r>
              <a:rPr lang="en-US" sz="1800" dirty="0" smtClean="0"/>
              <a:t> </a:t>
            </a:r>
            <a:endParaRPr lang="en-US" sz="18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Listen </a:t>
            </a:r>
            <a:r>
              <a:rPr lang="en-US" b="1" dirty="0"/>
              <a:t>carefully; </a:t>
            </a:r>
            <a:r>
              <a:rPr lang="en-US" dirty="0"/>
              <a:t>Good listening helps you learn how to express ideas clearly and respond </a:t>
            </a:r>
            <a:r>
              <a:rPr lang="en-US" dirty="0" smtClean="0"/>
              <a:t>appropriately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Read </a:t>
            </a:r>
            <a:r>
              <a:rPr lang="en-US" b="1" dirty="0"/>
              <a:t>widely; </a:t>
            </a:r>
            <a:r>
              <a:rPr lang="en-US" dirty="0"/>
              <a:t>Reading improves your vocabulary, grammar, knowledge, and ability to express </a:t>
            </a:r>
            <a:r>
              <a:rPr lang="en-US" dirty="0" smtClean="0"/>
              <a:t>yourself.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Improve </a:t>
            </a:r>
            <a:r>
              <a:rPr lang="en-US" b="1" dirty="0"/>
              <a:t>your vocabulary; </a:t>
            </a:r>
            <a:r>
              <a:rPr lang="en-US" dirty="0"/>
              <a:t>Learn new words and </a:t>
            </a:r>
            <a:r>
              <a:rPr lang="en-US" dirty="0" err="1"/>
              <a:t>practise</a:t>
            </a:r>
            <a:r>
              <a:rPr lang="en-US" dirty="0"/>
              <a:t> using them </a:t>
            </a:r>
            <a:r>
              <a:rPr lang="en-US" dirty="0" smtClean="0"/>
              <a:t>correctly.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Speak </a:t>
            </a:r>
            <a:r>
              <a:rPr lang="en-US" b="1" dirty="0"/>
              <a:t>clearly and loudly enough;</a:t>
            </a:r>
            <a:r>
              <a:rPr lang="en-US" dirty="0"/>
              <a:t>Pronounce words properly and use a suitable speed and volume.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88950"/>
            <a:ext cx="10972800" cy="5638800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Organize your ideas</a:t>
            </a:r>
            <a:r>
              <a:rPr lang="en-US" dirty="0"/>
              <a:t>;Think about your main points before speaking so that your message is logical.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Use simple language</a:t>
            </a:r>
            <a:r>
              <a:rPr lang="en-US" dirty="0"/>
              <a:t> ; Avoid difficult words when simple words can communicate the same idea.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Maintain eye contact</a:t>
            </a:r>
            <a:r>
              <a:rPr lang="en-US" dirty="0"/>
              <a:t> ; Appropriate eye contact shows confidence and keeps the audience interested.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Ask for feedback</a:t>
            </a:r>
            <a:r>
              <a:rPr lang="en-US" dirty="0"/>
              <a:t> ; Allow others to tell you what you are doing well and what you need to improve.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Control nervousness ;</a:t>
            </a:r>
            <a:r>
              <a:rPr lang="en-US" dirty="0"/>
              <a:t> Take deep breaths, prepare well, and </a:t>
            </a:r>
            <a:r>
              <a:rPr lang="en-US" dirty="0" err="1"/>
              <a:t>practise</a:t>
            </a:r>
            <a:r>
              <a:rPr lang="en-US" dirty="0"/>
              <a:t> before speaking in public.</a:t>
            </a:r>
            <a:endParaRPr lang="en-US" sz="1800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6*290"/>
  <p:tag name="TABLE_ENDDRAG_RECT" val="49*199*826*290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14653</Words>
  <Application>WPS Presentation</Application>
  <PresentationFormat>Widescreen</PresentationFormat>
  <Paragraphs>307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Segoe UI</vt:lpstr>
      <vt:lpstr>Times New Roman</vt:lpstr>
      <vt:lpstr>Courier New</vt:lpstr>
      <vt:lpstr>Verdana</vt:lpstr>
      <vt:lpstr>Arial Black</vt:lpstr>
      <vt:lpstr>Wingdings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 Give the different types of communication processes</vt:lpstr>
      <vt:lpstr>9.Explain the following types of Networks:</vt:lpstr>
      <vt:lpstr>PowerPoint 演示文稿</vt:lpstr>
      <vt:lpstr>PowerPoint 演示文稿</vt:lpstr>
      <vt:lpstr>10. Give seven 7 internal and external communication networks and explain the purpose of each  </vt:lpstr>
      <vt:lpstr>PowerPoint 演示文稿</vt:lpstr>
      <vt:lpstr>External Communication Networks includes the following: </vt:lpstr>
      <vt:lpstr>PowerPoint 演示文稿</vt:lpstr>
      <vt:lpstr>The 7 Cs of effective communication are principles that help ensure a message is understood correctly and achieves its purpose. </vt:lpstr>
      <vt:lpstr>PowerPoint 演示文稿</vt:lpstr>
      <vt:lpstr>PowerPoint 演示文稿</vt:lpstr>
      <vt:lpstr>QUESTION 12 How do we develop effective back skills?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THINKPAD</dc:creator>
  <cp:lastModifiedBy>THINKPAD</cp:lastModifiedBy>
  <cp:revision>6</cp:revision>
  <dcterms:created xsi:type="dcterms:W3CDTF">2025-07-23T00:59:00Z</dcterms:created>
  <dcterms:modified xsi:type="dcterms:W3CDTF">2026-08-25T10:16:50Z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AD48C7AE3D94449CA146EE788CDD0483_11</vt:lpwstr>
  </property>
  <property fmtid="{D5CDD505-2E9C-101B-9397-08002B2CF9AE}" pid="3" name="KSOProductBuildVer">
    <vt:lpwstr>2057-12.2.0.23202</vt:lpwstr>
  </property>
</Properties>
</file>